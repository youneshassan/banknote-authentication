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64" r:id="rId5"/>
    <p:sldId id="265" r:id="rId6"/>
    <p:sldId id="259" r:id="rId7"/>
    <p:sldId id="268" r:id="rId8"/>
    <p:sldId id="269" r:id="rId9"/>
    <p:sldId id="270" r:id="rId10"/>
    <p:sldId id="271" r:id="rId11"/>
    <p:sldId id="272" r:id="rId12"/>
    <p:sldId id="274" r:id="rId13"/>
    <p:sldId id="275" r:id="rId14"/>
    <p:sldId id="276" r:id="rId15"/>
    <p:sldId id="279" r:id="rId16"/>
    <p:sldId id="278" r:id="rId17"/>
    <p:sldId id="280" r:id="rId18"/>
    <p:sldId id="282" r:id="rId19"/>
    <p:sldId id="283" r:id="rId20"/>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59" autoAdjust="0"/>
    <p:restoredTop sz="93404" autoAdjust="0"/>
  </p:normalViewPr>
  <p:slideViewPr>
    <p:cSldViewPr snapToGrid="0" snapToObjects="1">
      <p:cViewPr varScale="1">
        <p:scale>
          <a:sx n="50" d="100"/>
          <a:sy n="50" d="100"/>
        </p:scale>
        <p:origin x="96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818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44039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51107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04807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48580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660894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75534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67177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89889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45198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5106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704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438710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212191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900257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640991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833199" y="673768"/>
            <a:ext cx="13285859" cy="7375357"/>
          </a:xfrm>
          <a:prstGeom prst="rect">
            <a:avLst/>
          </a:prstGeom>
          <a:noFill/>
          <a:ln/>
        </p:spPr>
        <p:txBody>
          <a:bodyPr wrap="square" rtlCol="0" anchor="t"/>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000000"/>
              </a:solidFill>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000000"/>
              </a:solidFill>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000000"/>
              </a:solidFill>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000000"/>
              </a:solidFill>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JOMO KENYATTA UNIVERSITY O AGRICULTURE AND</a:t>
            </a:r>
            <a:r>
              <a:rPr kumimoji="0" lang="en-US" altLang="en-US" sz="2000" b="0"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 </a:t>
            </a: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TECHNOLOGY</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SCHOOL OF COMPUTER SCIENCE AND INFORMATION</a:t>
            </a:r>
            <a:r>
              <a:rPr kumimoji="0" lang="en-US" altLang="en-US" sz="2000" b="0"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 </a:t>
            </a: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TECHNOLOGY</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BACHELOR OF SCIENCE INFORMATION TECHNOLOGY</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BANK NOTE AUTHENTICATION SYSTEM USING MACHINE LEARNING</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BY:</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YUNIS HASSAN ABSHIR</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REG NO: SCT221-C004-0401/2020</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rgbClr val="FFFF00"/>
                </a:solidFill>
                <a:effectLst/>
                <a:latin typeface="Arial" panose="020B0604020202020204" pitchFamily="34" charset="0"/>
                <a:ea typeface="Times New Roman" panose="02020603050405020304" pitchFamily="18" charset="0"/>
              </a:rPr>
              <a:t>SUPERVISOR:MS JUDY GATERI</a:t>
            </a:r>
            <a:endParaRPr lang="en-US" sz="2000" dirty="0">
              <a:solidFill>
                <a:srgbClr val="FFFF00"/>
              </a:solidFill>
            </a:endParaRPr>
          </a:p>
        </p:txBody>
      </p:sp>
      <p:sp>
        <p:nvSpPr>
          <p:cNvPr id="6" name="Text 2"/>
          <p:cNvSpPr/>
          <p:nvPr/>
        </p:nvSpPr>
        <p:spPr>
          <a:xfrm>
            <a:off x="833199" y="3056021"/>
            <a:ext cx="13285859" cy="3236495"/>
          </a:xfrm>
          <a:prstGeom prst="rect">
            <a:avLst/>
          </a:prstGeom>
          <a:noFill/>
          <a:ln/>
        </p:spPr>
        <p:txBody>
          <a:bodyPr wrap="square" rtlCol="0" anchor="t"/>
          <a:lstStyle/>
          <a:p>
            <a:pPr marL="0" indent="0">
              <a:lnSpc>
                <a:spcPts val="2799"/>
              </a:lnSpc>
              <a:buNone/>
            </a:pPr>
            <a:endParaRPr lang="en-US" sz="1750" dirty="0"/>
          </a:p>
        </p:txBody>
      </p:sp>
      <p:sp>
        <p:nvSpPr>
          <p:cNvPr id="9" name="Text 5"/>
          <p:cNvSpPr/>
          <p:nvPr/>
        </p:nvSpPr>
        <p:spPr>
          <a:xfrm>
            <a:off x="1299686" y="6589157"/>
            <a:ext cx="2171700" cy="388858"/>
          </a:xfrm>
          <a:prstGeom prst="rect">
            <a:avLst/>
          </a:prstGeom>
          <a:noFill/>
          <a:ln/>
        </p:spPr>
        <p:txBody>
          <a:bodyPr wrap="none" rtlCol="0" anchor="t"/>
          <a:lstStyle/>
          <a:p>
            <a:pPr marL="0" indent="0" algn="l">
              <a:lnSpc>
                <a:spcPts val="3062"/>
              </a:lnSpc>
              <a:buNone/>
            </a:pPr>
            <a:endParaRPr lang="en-US" sz="2187" dirty="0"/>
          </a:p>
        </p:txBody>
      </p:sp>
      <p:pic>
        <p:nvPicPr>
          <p:cNvPr id="12" name="Picture 54">
            <a:extLst>
              <a:ext uri="{FF2B5EF4-FFF2-40B4-BE49-F238E27FC236}">
                <a16:creationId xmlns:a16="http://schemas.microsoft.com/office/drawing/2014/main" id="{EC66FD48-E7D2-D6BB-DF1F-B563DCA096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8388" y="888937"/>
            <a:ext cx="3253624" cy="16316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7947"/>
            <a:ext cx="14630400" cy="8229600"/>
          </a:xfrm>
          <a:prstGeom prst="rect">
            <a:avLst/>
          </a:prstGeom>
          <a:solidFill>
            <a:srgbClr val="0D0A2C">
              <a:alpha val="75000"/>
            </a:srgbClr>
          </a:solidFill>
          <a:ln w="13811">
            <a:solidFill>
              <a:srgbClr val="FFFFFF">
                <a:alpha val="16000"/>
              </a:srgbClr>
            </a:solidFill>
            <a:prstDash val="solid"/>
          </a:ln>
        </p:spPr>
      </p:sp>
      <p:sp>
        <p:nvSpPr>
          <p:cNvPr id="4" name="Text 1"/>
          <p:cNvSpPr/>
          <p:nvPr/>
        </p:nvSpPr>
        <p:spPr>
          <a:xfrm>
            <a:off x="1989866" y="1261687"/>
            <a:ext cx="10300392" cy="694373"/>
          </a:xfrm>
          <a:prstGeom prst="rect">
            <a:avLst/>
          </a:prstGeom>
          <a:noFill/>
          <a:ln/>
        </p:spPr>
        <p:txBody>
          <a:bodyPr wrap="none" rtlCol="0" anchor="t"/>
          <a:lstStyle/>
          <a:p>
            <a:pPr marL="0" indent="0">
              <a:lnSpc>
                <a:spcPts val="5468"/>
              </a:lnSpc>
              <a:buNone/>
            </a:pPr>
            <a:r>
              <a:rPr lang="en-US" sz="4374" u="sng" dirty="0">
                <a:solidFill>
                  <a:srgbClr val="FFFF00"/>
                </a:solidFill>
                <a:latin typeface="Montserrat" pitchFamily="34" charset="0"/>
                <a:ea typeface="Montserrat" pitchFamily="34" charset="-122"/>
                <a:cs typeface="Montserrat" pitchFamily="34" charset="-120"/>
              </a:rPr>
              <a:t>Introduction and Background Study</a:t>
            </a:r>
            <a:endParaRPr lang="en-US" sz="4374" u="sng" dirty="0">
              <a:solidFill>
                <a:srgbClr val="FFFF00"/>
              </a:solidFill>
            </a:endParaRPr>
          </a:p>
        </p:txBody>
      </p:sp>
      <p:sp>
        <p:nvSpPr>
          <p:cNvPr id="5" name="Text 2"/>
          <p:cNvSpPr/>
          <p:nvPr/>
        </p:nvSpPr>
        <p:spPr>
          <a:xfrm>
            <a:off x="1905054" y="2228900"/>
            <a:ext cx="11485502" cy="3771800"/>
          </a:xfrm>
          <a:prstGeom prst="rect">
            <a:avLst/>
          </a:prstGeom>
          <a:noFill/>
          <a:ln/>
        </p:spPr>
        <p:txBody>
          <a:bodyPr wrap="square" rtlCol="0" anchor="t"/>
          <a:lstStyle/>
          <a:p>
            <a:pPr marL="285750" indent="-285750" algn="l">
              <a:buFont typeface="Arial" panose="020B0604020202020204" pitchFamily="34" charset="0"/>
              <a:buChar char="•"/>
            </a:pPr>
            <a:r>
              <a:rPr lang="en-US" sz="2000" b="0" i="0" dirty="0">
                <a:solidFill>
                  <a:schemeClr val="bg1"/>
                </a:solidFill>
                <a:effectLst/>
                <a:latin typeface="Google Sans"/>
              </a:rPr>
              <a:t>Counterfeit banknotes are a major threat to financial systems worldwide. Advances in printing technology have made it easier for counterfeiters to produce fake banknotes that are difficult to detect visually. This has created a need for reliable and efficient banknote authentication systems.</a:t>
            </a:r>
          </a:p>
          <a:p>
            <a:pPr marL="285750" indent="-285750" algn="l">
              <a:buFont typeface="Arial" panose="020B0604020202020204" pitchFamily="34" charset="0"/>
              <a:buChar char="•"/>
            </a:pPr>
            <a:r>
              <a:rPr lang="en-US" sz="2000" b="0" i="0" dirty="0">
                <a:solidFill>
                  <a:schemeClr val="bg1"/>
                </a:solidFill>
                <a:effectLst/>
                <a:latin typeface="Google Sans"/>
              </a:rPr>
              <a:t>This project aims to develop a robust banknote authentication system using classification algorithms. The system will extract features from images of banknotes and use these features to classify the banknotes as genuine or counterfeit.</a:t>
            </a:r>
          </a:p>
          <a:p>
            <a:pPr marL="285750" indent="-285750" algn="l">
              <a:buFont typeface="Arial" panose="020B0604020202020204" pitchFamily="34" charset="0"/>
              <a:buChar char="•"/>
            </a:pPr>
            <a:r>
              <a:rPr lang="en-US" sz="2000" b="0" i="0" dirty="0">
                <a:solidFill>
                  <a:schemeClr val="bg1"/>
                </a:solidFill>
                <a:effectLst/>
                <a:latin typeface="Google Sans"/>
              </a:rPr>
              <a:t>Four classification algorithms will be evaluated: Decision Tree, k-nearest neighbors (KNN), Random Forest, and Support Vector Machine (SVM).</a:t>
            </a:r>
          </a:p>
          <a:p>
            <a:pPr marL="285750" indent="-285750" algn="l">
              <a:buFont typeface="Arial" panose="020B0604020202020204" pitchFamily="34" charset="0"/>
              <a:buChar char="•"/>
            </a:pPr>
            <a:r>
              <a:rPr lang="en-US" sz="2000" b="0" i="0" dirty="0">
                <a:solidFill>
                  <a:schemeClr val="bg1"/>
                </a:solidFill>
                <a:effectLst/>
                <a:latin typeface="Google Sans"/>
              </a:rPr>
              <a:t>The project has the potential to contribute to the security and integrity of financial transactions. It can also help to reduce the reliance on manual inspection of banknotes.</a:t>
            </a:r>
          </a:p>
          <a:p>
            <a:pPr marL="285750" indent="-285750" algn="l">
              <a:buFont typeface="Arial" panose="020B0604020202020204" pitchFamily="34" charset="0"/>
              <a:buChar char="•"/>
            </a:pPr>
            <a:r>
              <a:rPr lang="en-US" sz="2000" b="0" i="0" dirty="0">
                <a:solidFill>
                  <a:schemeClr val="bg1"/>
                </a:solidFill>
                <a:effectLst/>
                <a:latin typeface="Google Sans"/>
              </a:rPr>
              <a:t>The project aligns with the growing importance of machine learning and artificial intelligence in various domains.</a:t>
            </a:r>
          </a:p>
          <a:p>
            <a:pPr marL="285750" indent="-285750" algn="l">
              <a:buFont typeface="Arial" panose="020B0604020202020204" pitchFamily="34" charset="0"/>
              <a:buChar char="•"/>
            </a:pPr>
            <a:r>
              <a:rPr lang="en-US" sz="2000" b="0" i="0" dirty="0">
                <a:solidFill>
                  <a:schemeClr val="bg1"/>
                </a:solidFill>
                <a:effectLst/>
                <a:latin typeface="Google Sans"/>
              </a:rPr>
              <a:t>The project will provide valuable insights into the performance and accuracy of different classification algorithms for banknote authentication.</a:t>
            </a:r>
          </a:p>
          <a:p>
            <a:pPr marL="285750" indent="-285750" algn="l">
              <a:buFont typeface="Arial" panose="020B0604020202020204" pitchFamily="34" charset="0"/>
              <a:buChar char="•"/>
            </a:pPr>
            <a:r>
              <a:rPr lang="en-US" sz="2000" b="0" i="0" dirty="0">
                <a:solidFill>
                  <a:schemeClr val="bg1"/>
                </a:solidFill>
                <a:effectLst/>
                <a:latin typeface="Google Sans"/>
              </a:rPr>
              <a:t>The project is expected to benefit financial institutions, cash-handling businesses, and government agencies </a:t>
            </a:r>
            <a:r>
              <a:rPr lang="en-US" sz="2000" dirty="0">
                <a:solidFill>
                  <a:schemeClr val="bg1"/>
                </a:solidFill>
                <a:latin typeface="Heebo" pitchFamily="34" charset="0"/>
                <a:ea typeface="Heebo" pitchFamily="34" charset="-122"/>
                <a:cs typeface="Heebo" pitchFamily="34" charset="-120"/>
              </a:rPr>
              <a:t>systems.</a:t>
            </a:r>
            <a:endParaRPr lang="en-US" sz="2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4445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833198" y="2692400"/>
            <a:ext cx="9574451" cy="536695"/>
          </a:xfrm>
          <a:prstGeom prst="rect">
            <a:avLst/>
          </a:prstGeom>
          <a:noFill/>
          <a:ln/>
        </p:spPr>
        <p:txBody>
          <a:bodyPr wrap="none" rtlCol="0" anchor="t"/>
          <a:lstStyle/>
          <a:p>
            <a:pPr marL="0" indent="0" algn="ctr">
              <a:lnSpc>
                <a:spcPts val="5468"/>
              </a:lnSpc>
              <a:buNone/>
            </a:pPr>
            <a:r>
              <a:rPr lang="en-US" sz="4374" dirty="0">
                <a:solidFill>
                  <a:srgbClr val="F2F0F4"/>
                </a:solidFill>
                <a:latin typeface="Montserrat" pitchFamily="34" charset="0"/>
              </a:rPr>
              <a:t>		</a:t>
            </a:r>
            <a:r>
              <a:rPr lang="en-US" sz="4374" dirty="0">
                <a:solidFill>
                  <a:srgbClr val="FFFF00"/>
                </a:solidFill>
                <a:latin typeface="Montserrat" pitchFamily="34" charset="0"/>
              </a:rPr>
              <a:t>	PROBLEM STATEMENT</a:t>
            </a:r>
            <a:endParaRPr lang="en-US" sz="4374" dirty="0">
              <a:solidFill>
                <a:srgbClr val="FFFF00"/>
              </a:solidFill>
            </a:endParaRPr>
          </a:p>
        </p:txBody>
      </p:sp>
      <p:sp>
        <p:nvSpPr>
          <p:cNvPr id="6" name="Text 2"/>
          <p:cNvSpPr/>
          <p:nvPr/>
        </p:nvSpPr>
        <p:spPr>
          <a:xfrm>
            <a:off x="833199" y="3562350"/>
            <a:ext cx="13279843" cy="4198018"/>
          </a:xfrm>
          <a:prstGeom prst="rect">
            <a:avLst/>
          </a:prstGeom>
          <a:noFill/>
          <a:ln/>
        </p:spPr>
        <p:txBody>
          <a:bodyPr wrap="square" rtlCol="0" anchor="t"/>
          <a:lstStyle/>
          <a:p>
            <a:pPr marL="285750" indent="-285750" algn="l">
              <a:buFont typeface="Arial" panose="020B0604020202020204" pitchFamily="34" charset="0"/>
              <a:buChar char="•"/>
            </a:pPr>
            <a:r>
              <a:rPr lang="en-US" sz="1800" b="0" i="0" dirty="0">
                <a:solidFill>
                  <a:schemeClr val="bg1"/>
                </a:solidFill>
                <a:effectLst/>
                <a:latin typeface="Google Sans"/>
              </a:rPr>
              <a:t> problem statement -defines an issue or challenge that needs to be addressed</a:t>
            </a:r>
          </a:p>
          <a:p>
            <a:pPr marL="285750" indent="-285750" algn="l">
              <a:buFont typeface="Arial" panose="020B0604020202020204" pitchFamily="34" charset="0"/>
              <a:buChar char="•"/>
            </a:pPr>
            <a:r>
              <a:rPr lang="en-US" sz="1800" b="0" i="0" dirty="0">
                <a:solidFill>
                  <a:schemeClr val="bg1"/>
                </a:solidFill>
                <a:effectLst/>
                <a:latin typeface="Google Sans"/>
              </a:rPr>
              <a:t>Detecting counterfeit banknotes is a crucial challenge in today's interconnected world. The growing sophistication of counterfeiting techniques, driven by advancements in digital printing, demands reliable and rapid authentication solutions.</a:t>
            </a:r>
          </a:p>
          <a:p>
            <a:pPr marL="285750" indent="-285750" algn="l">
              <a:buFont typeface="Arial" panose="020B0604020202020204" pitchFamily="34" charset="0"/>
              <a:buChar char="•"/>
            </a:pPr>
            <a:r>
              <a:rPr lang="en-US" sz="1800" b="0" i="0" dirty="0">
                <a:solidFill>
                  <a:schemeClr val="bg1"/>
                </a:solidFill>
                <a:effectLst/>
                <a:latin typeface="Google Sans"/>
              </a:rPr>
              <a:t>Accurate and efficient authentication systems safeguard the integrity of financial systems and foster trust in monetary transactions. Technological advancements, particularly in image processing, machine learning, and specialized sensors, have enabled the development of robust authentication mechanisms.</a:t>
            </a:r>
          </a:p>
          <a:p>
            <a:pPr marL="285750" indent="-285750" algn="l">
              <a:buFont typeface="Arial" panose="020B0604020202020204" pitchFamily="34" charset="0"/>
              <a:buChar char="•"/>
            </a:pPr>
            <a:r>
              <a:rPr lang="en-US" sz="1800" b="0" i="0" dirty="0">
                <a:solidFill>
                  <a:schemeClr val="bg1"/>
                </a:solidFill>
                <a:effectLst/>
                <a:latin typeface="Google Sans"/>
              </a:rPr>
              <a:t>Regulatory bodies mandate the adoption of authentication technology to maintain monetary stability and deter counterfeiting activities. The project aims to contribute to the development of best practices and innovative authentication technologies, bolstering trust and security in global finance.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36775" y="6350"/>
            <a:ext cx="14630400" cy="8229600"/>
          </a:xfrm>
          <a:prstGeom prst="rect">
            <a:avLst/>
          </a:prstGeom>
          <a:solidFill>
            <a:srgbClr val="0D0A2C">
              <a:alpha val="75000"/>
            </a:srgbClr>
          </a:solidFill>
          <a:ln w="13811">
            <a:solidFill>
              <a:srgbClr val="FFFFFF">
                <a:alpha val="16000"/>
              </a:srgbClr>
            </a:solidFill>
            <a:prstDash val="solid"/>
          </a:ln>
        </p:spPr>
        <p:txBody>
          <a:bodyPr/>
          <a:lstStyle/>
          <a:p>
            <a:endParaRPr lang="en-US" dirty="0"/>
          </a:p>
        </p:txBody>
      </p:sp>
      <p:sp>
        <p:nvSpPr>
          <p:cNvPr id="4" name="Text 1"/>
          <p:cNvSpPr/>
          <p:nvPr/>
        </p:nvSpPr>
        <p:spPr>
          <a:xfrm>
            <a:off x="1989866" y="1058779"/>
            <a:ext cx="10577118" cy="897281"/>
          </a:xfrm>
          <a:prstGeom prst="rect">
            <a:avLst/>
          </a:prstGeom>
          <a:noFill/>
          <a:ln/>
        </p:spPr>
        <p:txBody>
          <a:bodyPr wrap="none" rtlCol="0" anchor="t"/>
          <a:lstStyle/>
          <a:p>
            <a:pPr marL="0" indent="0" algn="ctr">
              <a:lnSpc>
                <a:spcPts val="5468"/>
              </a:lnSpc>
              <a:buNone/>
            </a:pPr>
            <a:r>
              <a:rPr lang="en-US" sz="4000" u="sng" dirty="0">
                <a:solidFill>
                  <a:schemeClr val="bg1"/>
                </a:solidFill>
                <a:latin typeface="Google Sans"/>
              </a:rPr>
              <a:t>RESEARCH QUESTIONS</a:t>
            </a:r>
            <a:endParaRPr lang="en-US" sz="4000" u="sng" dirty="0">
              <a:solidFill>
                <a:schemeClr val="bg1"/>
              </a:solidFill>
            </a:endParaRPr>
          </a:p>
        </p:txBody>
      </p:sp>
      <p:sp>
        <p:nvSpPr>
          <p:cNvPr id="5" name="Text 2"/>
          <p:cNvSpPr/>
          <p:nvPr/>
        </p:nvSpPr>
        <p:spPr>
          <a:xfrm>
            <a:off x="1905054" y="2228900"/>
            <a:ext cx="11485502" cy="4051250"/>
          </a:xfrm>
          <a:prstGeom prst="rect">
            <a:avLst/>
          </a:prstGeom>
          <a:noFill/>
          <a:ln/>
        </p:spPr>
        <p:txBody>
          <a:bodyPr wrap="square" rtlCol="0" anchor="t"/>
          <a:lstStyle/>
          <a:p>
            <a:pPr marR="1125855" lvl="0" algn="just" fontAlgn="base">
              <a:lnSpc>
                <a:spcPct val="150000"/>
              </a:lnSpc>
              <a:spcBef>
                <a:spcPts val="0"/>
              </a:spcBef>
              <a:spcAft>
                <a:spcPts val="575"/>
              </a:spcAft>
              <a:buClr>
                <a:srgbClr val="000000"/>
              </a:buClr>
              <a:buSzPts val="1200"/>
            </a:pPr>
            <a:r>
              <a:rPr lang="en-US" sz="2000" b="0" i="0" dirty="0">
                <a:effectLst/>
                <a:highlight>
                  <a:srgbClr val="FFFF00"/>
                </a:highlight>
                <a:latin typeface="Google Sans"/>
              </a:rPr>
              <a:t>A research question is a specific inquiry(questions) that a research project sets out to answer. </a:t>
            </a:r>
          </a:p>
          <a:p>
            <a:pPr marR="1125855" lvl="0" algn="just" fontAlgn="base">
              <a:lnSpc>
                <a:spcPct val="150000"/>
              </a:lnSpc>
              <a:spcBef>
                <a:spcPts val="0"/>
              </a:spcBef>
              <a:spcAft>
                <a:spcPts val="575"/>
              </a:spcAft>
              <a:buClr>
                <a:srgbClr val="000000"/>
              </a:buClr>
              <a:buSzPts val="1200"/>
            </a:pPr>
            <a:r>
              <a:rPr lang="en-US" sz="2000" kern="100" dirty="0" err="1">
                <a:effectLst/>
                <a:highlight>
                  <a:srgbClr val="FFFF00"/>
                </a:highlight>
                <a:uFill>
                  <a:solidFill>
                    <a:srgbClr val="000000"/>
                  </a:solidFill>
                </a:uFill>
                <a:latin typeface="Google Sans"/>
                <a:ea typeface="Times New Roman" panose="02020603050405020304" pitchFamily="18" charset="0"/>
                <a:cs typeface="Times New Roman" panose="02020603050405020304" pitchFamily="18" charset="0"/>
              </a:rPr>
              <a:t>BankNote</a:t>
            </a:r>
            <a:r>
              <a:rPr lang="en-US" sz="2000" kern="100" dirty="0">
                <a:effectLst/>
                <a:highlight>
                  <a:srgbClr val="FFFF00"/>
                </a:highlight>
                <a:uFill>
                  <a:solidFill>
                    <a:srgbClr val="000000"/>
                  </a:solidFill>
                </a:uFill>
                <a:latin typeface="Google Sans"/>
                <a:ea typeface="Times New Roman" panose="02020603050405020304" pitchFamily="18" charset="0"/>
                <a:cs typeface="Times New Roman" panose="02020603050405020304" pitchFamily="18" charset="0"/>
              </a:rPr>
              <a:t> authentication system answers the following questions:</a:t>
            </a:r>
            <a:endParaRPr lang="en-US" sz="2000" u="none" strike="noStrike" kern="100" dirty="0">
              <a:effectLst/>
              <a:highlight>
                <a:srgbClr val="FFFF00"/>
              </a:highligh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R="1125855" lvl="0" algn="just" fontAlgn="base">
              <a:lnSpc>
                <a:spcPct val="150000"/>
              </a:lnSpc>
              <a:spcBef>
                <a:spcPts val="0"/>
              </a:spcBef>
              <a:spcAft>
                <a:spcPts val="575"/>
              </a:spcAft>
              <a:buClr>
                <a:srgbClr val="000000"/>
              </a:buClr>
              <a:buSzPts val="1200"/>
            </a:pPr>
            <a:r>
              <a:rPr lang="en-US" sz="2000" u="none" strike="noStrike" kern="100"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 Which classification algorithms, such as Decision Tree, KNN, Random Forest, and  SVM, are most effective in accurately classifying banknotes?     </a:t>
            </a:r>
          </a:p>
          <a:p>
            <a:pPr marR="1125855" lvl="0" algn="just" fontAlgn="base">
              <a:lnSpc>
                <a:spcPct val="150000"/>
              </a:lnSpc>
              <a:spcBef>
                <a:spcPts val="0"/>
              </a:spcBef>
              <a:spcAft>
                <a:spcPts val="335"/>
              </a:spcAft>
              <a:buClr>
                <a:srgbClr val="000000"/>
              </a:buClr>
              <a:buSzPts val="1200"/>
            </a:pPr>
            <a:r>
              <a:rPr lang="en-US" sz="2000" u="none" strike="noStrike" kern="100"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2.How can the accuracy of these algorithms be compared to identify the best approach for banknote authentication?     </a:t>
            </a:r>
          </a:p>
          <a:p>
            <a:pPr marR="1125855" lvl="0" algn="just" fontAlgn="base">
              <a:lnSpc>
                <a:spcPct val="150000"/>
              </a:lnSpc>
              <a:spcBef>
                <a:spcPts val="0"/>
              </a:spcBef>
              <a:spcAft>
                <a:spcPts val="1185"/>
              </a:spcAft>
              <a:buClr>
                <a:srgbClr val="000000"/>
              </a:buClr>
              <a:buSzPts val="1200"/>
            </a:pPr>
            <a:r>
              <a:rPr lang="en-US" sz="2000" u="none" strike="noStrike" kern="100"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3.What is the impact of dataset size and composition on the performance of banknote authentication algorithms?    </a:t>
            </a:r>
          </a:p>
        </p:txBody>
      </p:sp>
    </p:spTree>
    <p:extLst>
      <p:ext uri="{BB962C8B-B14F-4D97-AF65-F5344CB8AC3E}">
        <p14:creationId xmlns:p14="http://schemas.microsoft.com/office/powerpoint/2010/main" val="3396596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23383" y="6350"/>
            <a:ext cx="14630400" cy="8229600"/>
          </a:xfrm>
          <a:prstGeom prst="rect">
            <a:avLst/>
          </a:prstGeom>
          <a:solidFill>
            <a:srgbClr val="0D0A2C">
              <a:alpha val="75000"/>
            </a:srgbClr>
          </a:solidFill>
          <a:ln w="13811">
            <a:solidFill>
              <a:srgbClr val="FFFFFF">
                <a:alpha val="16000"/>
              </a:srgbClr>
            </a:solidFill>
            <a:prstDash val="solid"/>
          </a:ln>
        </p:spPr>
        <p:txBody>
          <a:bodyPr/>
          <a:lstStyle/>
          <a:p>
            <a:endParaRPr lang="en-US" dirty="0"/>
          </a:p>
        </p:txBody>
      </p:sp>
      <p:sp>
        <p:nvSpPr>
          <p:cNvPr id="4" name="Text 1"/>
          <p:cNvSpPr/>
          <p:nvPr/>
        </p:nvSpPr>
        <p:spPr>
          <a:xfrm>
            <a:off x="1989866" y="1058779"/>
            <a:ext cx="10577118" cy="897281"/>
          </a:xfrm>
          <a:prstGeom prst="rect">
            <a:avLst/>
          </a:prstGeom>
          <a:noFill/>
          <a:ln/>
        </p:spPr>
        <p:txBody>
          <a:bodyPr wrap="none" rtlCol="0" anchor="t"/>
          <a:lstStyle/>
          <a:p>
            <a:pPr marL="0" indent="0" algn="ctr">
              <a:lnSpc>
                <a:spcPts val="5468"/>
              </a:lnSpc>
              <a:buNone/>
            </a:pPr>
            <a:r>
              <a:rPr lang="en-US" sz="4000" dirty="0">
                <a:solidFill>
                  <a:schemeClr val="bg1"/>
                </a:solidFill>
                <a:latin typeface="Google Sans"/>
              </a:rPr>
              <a:t>RESEARCH OBJECTIVES</a:t>
            </a:r>
            <a:endParaRPr lang="en-US" sz="4000" u="sng" dirty="0">
              <a:solidFill>
                <a:schemeClr val="bg1"/>
              </a:solidFill>
            </a:endParaRPr>
          </a:p>
        </p:txBody>
      </p:sp>
      <p:sp>
        <p:nvSpPr>
          <p:cNvPr id="5" name="Text 2"/>
          <p:cNvSpPr/>
          <p:nvPr/>
        </p:nvSpPr>
        <p:spPr>
          <a:xfrm>
            <a:off x="1739900" y="2228900"/>
            <a:ext cx="11650656" cy="4419550"/>
          </a:xfrm>
          <a:prstGeom prst="rect">
            <a:avLst/>
          </a:prstGeom>
          <a:noFill/>
          <a:ln/>
        </p:spPr>
        <p:txBody>
          <a:bodyPr wrap="square" rtlCol="0" anchor="t"/>
          <a:lstStyle/>
          <a:p>
            <a:br>
              <a:rPr lang="en-US" sz="2000" b="0" i="0" dirty="0">
                <a:solidFill>
                  <a:srgbClr val="D4D1CB"/>
                </a:solidFill>
                <a:effectLst/>
                <a:latin typeface="Google Sans"/>
              </a:rPr>
            </a:br>
            <a:r>
              <a:rPr lang="en-US" sz="2000" b="0" i="0" dirty="0">
                <a:solidFill>
                  <a:srgbClr val="FFFF00"/>
                </a:solidFill>
                <a:effectLst/>
                <a:latin typeface="Google Sans"/>
              </a:rPr>
              <a:t>A research objective </a:t>
            </a:r>
            <a:r>
              <a:rPr lang="en-US" sz="2000" b="0" i="0" dirty="0">
                <a:solidFill>
                  <a:srgbClr val="D4D1CB"/>
                </a:solidFill>
                <a:effectLst/>
                <a:latin typeface="Google Sans"/>
              </a:rPr>
              <a:t>is a specific and measurable statement that outlines what the researcher aims to achieve through their study. It is a more concrete and actionable version of the broader research question.</a:t>
            </a:r>
          </a:p>
          <a:p>
            <a:endParaRPr lang="en-US" sz="2000" dirty="0">
              <a:solidFill>
                <a:schemeClr val="bg1"/>
              </a:solidFill>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sz="2000" dirty="0">
                <a:solidFill>
                  <a:schemeClr val="accent2"/>
                </a:solidFill>
                <a:latin typeface="Times New Roman" panose="02020603050405020304" pitchFamily="18" charset="0"/>
                <a:ea typeface="Times New Roman" panose="02020603050405020304" pitchFamily="18" charset="0"/>
              </a:rPr>
              <a:t>The general objective</a:t>
            </a:r>
            <a:r>
              <a:rPr lang="en-US" sz="2000" dirty="0">
                <a:solidFill>
                  <a:schemeClr val="bg1"/>
                </a:solidFill>
                <a:latin typeface="Times New Roman" panose="02020603050405020304" pitchFamily="18" charset="0"/>
                <a:ea typeface="Times New Roman" panose="02020603050405020304" pitchFamily="18" charset="0"/>
              </a:rPr>
              <a:t> is t</a:t>
            </a:r>
            <a:r>
              <a:rPr lang="en-US" sz="2000" dirty="0">
                <a:solidFill>
                  <a:schemeClr val="bg1"/>
                </a:solidFill>
                <a:effectLst/>
                <a:latin typeface="Times New Roman" panose="02020603050405020304" pitchFamily="18" charset="0"/>
                <a:ea typeface="Times New Roman" panose="02020603050405020304" pitchFamily="18" charset="0"/>
              </a:rPr>
              <a:t>o develop an enhanced banknote authentication system by exploring and comparing different classification algorithms (Decision Tree, KNN, Random Forest, SVM) to identify the most effective one for accurately distinguishing between genuine and counterfeit banknotes. </a:t>
            </a:r>
          </a:p>
          <a:p>
            <a:pPr algn="ctr"/>
            <a:r>
              <a:rPr lang="en-US" sz="2000" b="1" u="sng" dirty="0">
                <a:solidFill>
                  <a:srgbClr val="FFFF00"/>
                </a:solidFill>
                <a:latin typeface="Times New Roman" panose="02020603050405020304" pitchFamily="18" charset="0"/>
              </a:rPr>
              <a:t>Specific Objectives</a:t>
            </a:r>
          </a:p>
          <a:p>
            <a:pPr marR="1125855" lvl="0" algn="just" fontAlgn="base">
              <a:lnSpc>
                <a:spcPct val="150000"/>
              </a:lnSpc>
              <a:spcBef>
                <a:spcPts val="0"/>
              </a:spcBef>
              <a:spcAft>
                <a:spcPts val="1755"/>
              </a:spcAft>
              <a:buClr>
                <a:srgbClr val="000000"/>
              </a:buClr>
              <a:buSzPts val="1200"/>
            </a:pPr>
            <a:r>
              <a:rPr lang="en-US" sz="2000" u="none" strike="noStrike" kern="100"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1.Implementation of classification algorithms for banknote authentication.     </a:t>
            </a:r>
          </a:p>
          <a:p>
            <a:pPr marR="1125855" lvl="0" algn="just" fontAlgn="base">
              <a:lnSpc>
                <a:spcPct val="150000"/>
              </a:lnSpc>
              <a:spcBef>
                <a:spcPts val="0"/>
              </a:spcBef>
              <a:spcAft>
                <a:spcPts val="1235"/>
              </a:spcAft>
              <a:buClr>
                <a:srgbClr val="000000"/>
              </a:buClr>
              <a:buSzPts val="1200"/>
            </a:pPr>
            <a:r>
              <a:rPr lang="en-US" sz="2000" u="none" strike="noStrike" kern="100"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2.Comparison and evaluation of the accuracy of different classification algorithms.     </a:t>
            </a:r>
          </a:p>
          <a:p>
            <a:r>
              <a:rPr lang="en-US" sz="2000" dirty="0">
                <a:solidFill>
                  <a:schemeClr val="bg1"/>
                </a:solidFill>
                <a:effectLst/>
                <a:latin typeface="Times New Roman" panose="02020603050405020304" pitchFamily="18" charset="0"/>
                <a:ea typeface="Times New Roman" panose="02020603050405020304" pitchFamily="18" charset="0"/>
              </a:rPr>
              <a:t>3. Documentation of the project findings and recommendations for future improvements</a:t>
            </a:r>
            <a:endParaRPr lang="en-US" sz="2000" dirty="0">
              <a:solidFill>
                <a:schemeClr val="bg1"/>
              </a:solidFill>
              <a:latin typeface="Times New Roman" panose="02020603050405020304" pitchFamily="18" charset="0"/>
            </a:endParaRPr>
          </a:p>
        </p:txBody>
      </p:sp>
    </p:spTree>
    <p:extLst>
      <p:ext uri="{BB962C8B-B14F-4D97-AF65-F5344CB8AC3E}">
        <p14:creationId xmlns:p14="http://schemas.microsoft.com/office/powerpoint/2010/main" val="1690329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30079"/>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1131649" y="1680745"/>
            <a:ext cx="10572738" cy="1148101"/>
          </a:xfrm>
          <a:prstGeom prst="rect">
            <a:avLst/>
          </a:prstGeom>
          <a:noFill/>
          <a:ln/>
        </p:spPr>
        <p:txBody>
          <a:bodyPr wrap="none" rtlCol="0" anchor="t"/>
          <a:lstStyle/>
          <a:p>
            <a:pPr marL="0" indent="0" algn="ctr">
              <a:lnSpc>
                <a:spcPts val="5468"/>
              </a:lnSpc>
              <a:buNone/>
            </a:pPr>
            <a:r>
              <a:rPr lang="en-US" sz="4374" dirty="0">
                <a:solidFill>
                  <a:srgbClr val="FFFF00"/>
                </a:solidFill>
                <a:latin typeface="Montserrat" pitchFamily="34" charset="0"/>
              </a:rPr>
              <a:t>LIMITATIONS OF THE PROJECT</a:t>
            </a:r>
            <a:endParaRPr lang="en-US" sz="4374" dirty="0">
              <a:solidFill>
                <a:srgbClr val="FFFF00"/>
              </a:solidFill>
            </a:endParaRPr>
          </a:p>
        </p:txBody>
      </p:sp>
      <p:sp>
        <p:nvSpPr>
          <p:cNvPr id="6" name="Text 2"/>
          <p:cNvSpPr/>
          <p:nvPr/>
        </p:nvSpPr>
        <p:spPr>
          <a:xfrm>
            <a:off x="641350" y="3060700"/>
            <a:ext cx="13050587" cy="4597400"/>
          </a:xfrm>
          <a:prstGeom prst="rect">
            <a:avLst/>
          </a:prstGeom>
          <a:noFill/>
          <a:ln/>
        </p:spPr>
        <p:txBody>
          <a:bodyPr wrap="square" rtlCol="0" anchor="t"/>
          <a:lstStyle/>
          <a:p>
            <a:pPr algn="l"/>
            <a:r>
              <a:rPr lang="en-US" sz="2000" b="0" i="0" dirty="0">
                <a:solidFill>
                  <a:srgbClr val="FFFF00"/>
                </a:solidFill>
                <a:effectLst/>
                <a:latin typeface="Google Sans"/>
              </a:rPr>
              <a:t>The limitations </a:t>
            </a:r>
            <a:r>
              <a:rPr lang="en-US" sz="2000" b="0" i="0" dirty="0">
                <a:solidFill>
                  <a:srgbClr val="D4D1CB"/>
                </a:solidFill>
                <a:effectLst/>
                <a:latin typeface="Google Sans"/>
              </a:rPr>
              <a:t>of a project are the factors that can constrain or restrict its ability to achieve its objectives. These limitations can be internal or external to the project and can have a significant impact on its overall success. Understanding and managing project limitations is crucial for ensuring that projects are completed on time, within budget, and to the desired quality standards. the </a:t>
            </a:r>
            <a:r>
              <a:rPr lang="en-US" sz="2000" b="0" i="0" dirty="0" err="1">
                <a:solidFill>
                  <a:srgbClr val="D4D1CB"/>
                </a:solidFill>
                <a:effectLst/>
                <a:latin typeface="Google Sans"/>
              </a:rPr>
              <a:t>limitatations</a:t>
            </a:r>
            <a:r>
              <a:rPr lang="en-US" sz="2000" b="0" i="0" dirty="0">
                <a:solidFill>
                  <a:srgbClr val="D4D1CB"/>
                </a:solidFill>
                <a:effectLst/>
                <a:latin typeface="Google Sans"/>
              </a:rPr>
              <a:t> include:</a:t>
            </a:r>
            <a:endParaRPr lang="en-US" sz="2000" b="0" i="0" dirty="0">
              <a:solidFill>
                <a:schemeClr val="bg1"/>
              </a:solidFill>
              <a:effectLst/>
              <a:latin typeface="Google Sans"/>
            </a:endParaRPr>
          </a:p>
          <a:p>
            <a:pPr algn="l">
              <a:buFont typeface="Arial" panose="020B0604020202020204" pitchFamily="34" charset="0"/>
              <a:buChar char="•"/>
            </a:pPr>
            <a:r>
              <a:rPr lang="en-US" sz="2000" b="0" i="0" dirty="0">
                <a:solidFill>
                  <a:schemeClr val="bg1"/>
                </a:solidFill>
                <a:effectLst/>
                <a:latin typeface="Google Sans"/>
              </a:rPr>
              <a:t>Extracted image features may not capture all factors affecting banknote authenticity</a:t>
            </a:r>
          </a:p>
          <a:p>
            <a:pPr algn="l">
              <a:buFont typeface="Arial" panose="020B0604020202020204" pitchFamily="34" charset="0"/>
              <a:buChar char="•"/>
            </a:pPr>
            <a:r>
              <a:rPr lang="en-US" sz="2000" b="0" i="0" dirty="0">
                <a:solidFill>
                  <a:schemeClr val="bg1"/>
                </a:solidFill>
                <a:effectLst/>
                <a:latin typeface="Google Sans"/>
              </a:rPr>
              <a:t>Variations in lighting, image quality, and banknote designs may affect real-world accuracy</a:t>
            </a:r>
          </a:p>
          <a:p>
            <a:pPr algn="l">
              <a:buFont typeface="Arial" panose="020B0604020202020204" pitchFamily="34" charset="0"/>
              <a:buChar char="•"/>
            </a:pPr>
            <a:r>
              <a:rPr lang="en-US" sz="2000" b="0" i="0" dirty="0">
                <a:solidFill>
                  <a:schemeClr val="bg1"/>
                </a:solidFill>
                <a:effectLst/>
                <a:latin typeface="Google Sans"/>
              </a:rPr>
              <a:t>Limited exploration of other machine learning approaches. </a:t>
            </a:r>
          </a:p>
          <a:p>
            <a:pPr algn="l">
              <a:buFont typeface="Arial" panose="020B0604020202020204" pitchFamily="34" charset="0"/>
              <a:buChar char="•"/>
            </a:pPr>
            <a:r>
              <a:rPr lang="en-US" sz="2000" b="0" i="0" dirty="0">
                <a:solidFill>
                  <a:schemeClr val="bg1"/>
                </a:solidFill>
                <a:effectLst/>
                <a:latin typeface="Google Sans"/>
              </a:rPr>
              <a:t>Generalizability to all banknote types may be limited</a:t>
            </a:r>
          </a:p>
          <a:p>
            <a:pPr algn="l">
              <a:buFont typeface="Arial" panose="020B0604020202020204" pitchFamily="34" charset="0"/>
              <a:buChar char="•"/>
            </a:pPr>
            <a:r>
              <a:rPr lang="en-US" sz="2000" b="0" i="0" dirty="0">
                <a:solidFill>
                  <a:schemeClr val="bg1"/>
                </a:solidFill>
                <a:effectLst/>
                <a:latin typeface="Google Sans"/>
              </a:rPr>
              <a:t>Physical factors like texture or ink quality are not considered</a:t>
            </a:r>
          </a:p>
          <a:p>
            <a:pPr algn="l">
              <a:buFont typeface="Arial" panose="020B0604020202020204" pitchFamily="34" charset="0"/>
              <a:buChar char="•"/>
            </a:pPr>
            <a:r>
              <a:rPr lang="en-US" sz="2000" b="0" i="0" dirty="0">
                <a:solidFill>
                  <a:schemeClr val="bg1"/>
                </a:solidFill>
                <a:effectLst/>
                <a:latin typeface="Google Sans"/>
              </a:rPr>
              <a:t>External factors like lighting and image quality are not fully addressed</a:t>
            </a:r>
          </a:p>
          <a:p>
            <a:pPr marL="0" indent="0">
              <a:lnSpc>
                <a:spcPts val="2799"/>
              </a:lnSpc>
              <a:buNone/>
            </a:pP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36094"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694836" y="914400"/>
            <a:ext cx="12906864" cy="1094874"/>
          </a:xfrm>
          <a:prstGeom prst="rect">
            <a:avLst/>
          </a:prstGeom>
          <a:noFill/>
          <a:ln/>
        </p:spPr>
        <p:txBody>
          <a:bodyPr wrap="none" rtlCol="0" anchor="t"/>
          <a:lstStyle/>
          <a:p>
            <a:pPr marL="0" indent="0" algn="ctr">
              <a:buNone/>
            </a:pPr>
            <a:r>
              <a:rPr lang="en-US" sz="2000" u="sng" dirty="0">
                <a:solidFill>
                  <a:srgbClr val="FFFF00"/>
                </a:solidFill>
              </a:rPr>
              <a:t>LITERATURE REVIEW</a:t>
            </a:r>
            <a:br>
              <a:rPr lang="en-US" sz="2000" dirty="0">
                <a:solidFill>
                  <a:srgbClr val="FFFF00"/>
                </a:solidFill>
              </a:rPr>
            </a:br>
            <a:r>
              <a:rPr lang="en-US" sz="2000" b="1" dirty="0">
                <a:solidFill>
                  <a:srgbClr val="FFFF00"/>
                </a:solidFill>
              </a:rPr>
              <a:t>Historical Development Of Banknote Authentication System</a:t>
            </a:r>
            <a:r>
              <a:rPr lang="en-US" sz="4400" dirty="0"/>
              <a:t>.</a:t>
            </a:r>
            <a:endParaRPr lang="en-US" sz="4374" dirty="0"/>
          </a:p>
        </p:txBody>
      </p:sp>
      <p:sp>
        <p:nvSpPr>
          <p:cNvPr id="6" name="Text 2"/>
          <p:cNvSpPr/>
          <p:nvPr/>
        </p:nvSpPr>
        <p:spPr>
          <a:xfrm>
            <a:off x="288758" y="2105526"/>
            <a:ext cx="14161168" cy="5552574"/>
          </a:xfrm>
          <a:prstGeom prst="rect">
            <a:avLst/>
          </a:prstGeom>
          <a:noFill/>
          <a:ln/>
        </p:spPr>
        <p:txBody>
          <a:bodyPr wrap="square" rtlCol="0" anchor="t"/>
          <a:lstStyle/>
          <a:p>
            <a:pPr algn="l"/>
            <a:r>
              <a:rPr lang="en-US" sz="2000" b="1" i="0" u="sng" dirty="0">
                <a:solidFill>
                  <a:schemeClr val="accent2"/>
                </a:solidFill>
                <a:effectLst/>
                <a:latin typeface="Google Sans"/>
              </a:rPr>
              <a:t>Early Psychological Theories</a:t>
            </a:r>
          </a:p>
          <a:p>
            <a:pPr algn="l"/>
            <a:r>
              <a:rPr lang="en-US" sz="2000" b="0" i="0" dirty="0">
                <a:solidFill>
                  <a:schemeClr val="bg1"/>
                </a:solidFill>
                <a:effectLst/>
                <a:latin typeface="Google Sans"/>
              </a:rPr>
              <a:t>The earliest attempts to distinguish genuine banknotes from counterfeit ones relied on human perception and psychological principles. Experts studied the visual characteristics of banknotes, including color, texture, and security features, and developed guidelines for manual inspection. However, this approach was subjective and prone to errors, as it depended on the expertise and vigilance of the inspector.</a:t>
            </a:r>
          </a:p>
          <a:p>
            <a:pPr algn="l"/>
            <a:r>
              <a:rPr lang="en-US" sz="2000" b="1" i="0" u="sng" dirty="0">
                <a:solidFill>
                  <a:schemeClr val="accent2"/>
                </a:solidFill>
                <a:effectLst/>
                <a:latin typeface="Google Sans"/>
              </a:rPr>
              <a:t>Foundation of the System</a:t>
            </a:r>
          </a:p>
          <a:p>
            <a:pPr algn="l"/>
            <a:r>
              <a:rPr lang="en-US" sz="2000" b="0" i="0" dirty="0">
                <a:solidFill>
                  <a:schemeClr val="bg1"/>
                </a:solidFill>
                <a:effectLst/>
                <a:latin typeface="Google Sans"/>
              </a:rPr>
              <a:t>As the sophistication of counterfeit techniques increased, the need for more objective and reliable authentication methods arose. This led to the development of standardized security features embedded in banknotes, such as watermarks, threads, and holograms. These features provided additional clues for manual inspection but still required trained experts and were susceptible to duplication by counterfeiters.</a:t>
            </a:r>
          </a:p>
          <a:p>
            <a:pPr algn="l"/>
            <a:r>
              <a:rPr lang="en-US" sz="2000" b="1" i="0" u="sng" dirty="0">
                <a:solidFill>
                  <a:schemeClr val="accent2"/>
                </a:solidFill>
                <a:effectLst/>
                <a:latin typeface="Google Sans"/>
              </a:rPr>
              <a:t>Technological Advancements</a:t>
            </a:r>
          </a:p>
          <a:p>
            <a:pPr algn="l"/>
            <a:r>
              <a:rPr lang="en-US" sz="2000" b="0" i="0" dirty="0">
                <a:solidFill>
                  <a:schemeClr val="bg1"/>
                </a:solidFill>
                <a:effectLst/>
                <a:latin typeface="Google Sans"/>
              </a:rPr>
              <a:t>The advent of computers and digital technologies revolutionized banknote authentication. Optical sensors, image processing techniques, and machine learning algorithms enabled the development of automated authentication systems. These systems could analyze large amounts of data rapidly and accurately, detecting subtle differences between genuine and counterfeit banknotes.</a:t>
            </a:r>
          </a:p>
          <a:p>
            <a:pPr algn="l"/>
            <a:r>
              <a:rPr lang="en-US" sz="2000" b="1" i="0" u="sng" dirty="0">
                <a:solidFill>
                  <a:schemeClr val="accent2"/>
                </a:solidFill>
                <a:effectLst/>
                <a:latin typeface="Google Sans"/>
              </a:rPr>
              <a:t>Key Technological Advancements</a:t>
            </a:r>
          </a:p>
          <a:p>
            <a:pPr algn="l">
              <a:buFont typeface="Arial" panose="020B0604020202020204" pitchFamily="34" charset="0"/>
              <a:buChar char="•"/>
            </a:pPr>
            <a:r>
              <a:rPr lang="en-US" sz="2000" b="0" i="0" dirty="0">
                <a:solidFill>
                  <a:schemeClr val="bg1"/>
                </a:solidFill>
                <a:effectLst/>
                <a:latin typeface="Google Sans"/>
              </a:rPr>
              <a:t>Image Processing: Digital image processing techniques, such as feature extraction and pattern recognition, were employed to analyze the intricate details of banknotes.</a:t>
            </a:r>
          </a:p>
          <a:p>
            <a:pPr marL="0" indent="0">
              <a:lnSpc>
                <a:spcPts val="2799"/>
              </a:lnSpc>
              <a:buNone/>
            </a:pPr>
            <a:endParaRPr lang="en-US" sz="1750" dirty="0">
              <a:solidFill>
                <a:schemeClr val="bg1"/>
              </a:solidFill>
            </a:endParaRPr>
          </a:p>
        </p:txBody>
      </p:sp>
    </p:spTree>
    <p:extLst>
      <p:ext uri="{BB962C8B-B14F-4D97-AF65-F5344CB8AC3E}">
        <p14:creationId xmlns:p14="http://schemas.microsoft.com/office/powerpoint/2010/main" val="308077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92568" y="439152"/>
            <a:ext cx="13237732" cy="1094874"/>
          </a:xfrm>
          <a:prstGeom prst="rect">
            <a:avLst/>
          </a:prstGeom>
          <a:noFill/>
          <a:ln/>
        </p:spPr>
        <p:txBody>
          <a:bodyPr wrap="none" rtlCol="0" anchor="t"/>
          <a:lstStyle/>
          <a:p>
            <a:pPr marL="0" indent="0" algn="ctr">
              <a:buNone/>
            </a:pPr>
            <a:r>
              <a:rPr lang="en-US" sz="2000" dirty="0">
                <a:solidFill>
                  <a:srgbClr val="FFFF00"/>
                </a:solidFill>
              </a:rPr>
              <a:t>LITERATURE REVIEW </a:t>
            </a:r>
            <a:r>
              <a:rPr lang="en-US" sz="2000" dirty="0" err="1">
                <a:solidFill>
                  <a:srgbClr val="FFFF00"/>
                </a:solidFill>
              </a:rPr>
              <a:t>cont</a:t>
            </a:r>
            <a:r>
              <a:rPr lang="en-US" sz="2000" dirty="0">
                <a:solidFill>
                  <a:srgbClr val="FFFF00"/>
                </a:solidFill>
              </a:rPr>
              <a:t>….</a:t>
            </a:r>
            <a:endParaRPr lang="en-US" sz="4374" dirty="0">
              <a:solidFill>
                <a:srgbClr val="FFFF00"/>
              </a:solidFill>
            </a:endParaRPr>
          </a:p>
        </p:txBody>
      </p:sp>
      <p:sp>
        <p:nvSpPr>
          <p:cNvPr id="6" name="Text 2"/>
          <p:cNvSpPr/>
          <p:nvPr/>
        </p:nvSpPr>
        <p:spPr>
          <a:xfrm>
            <a:off x="300790" y="1052763"/>
            <a:ext cx="14107026" cy="6605337"/>
          </a:xfrm>
          <a:prstGeom prst="rect">
            <a:avLst/>
          </a:prstGeom>
          <a:noFill/>
          <a:ln/>
        </p:spPr>
        <p:txBody>
          <a:bodyPr wrap="square" rtlCol="0" anchor="t"/>
          <a:lstStyle/>
          <a:p>
            <a:pPr algn="l">
              <a:buFont typeface="Arial" panose="020B0604020202020204" pitchFamily="34" charset="0"/>
              <a:buChar char="•"/>
            </a:pPr>
            <a:r>
              <a:rPr lang="en-US" sz="2000" b="1" i="0" dirty="0">
                <a:solidFill>
                  <a:srgbClr val="FFFF00"/>
                </a:solidFill>
                <a:effectLst/>
                <a:latin typeface="Google Sans"/>
              </a:rPr>
              <a:t>Optical Sensors</a:t>
            </a:r>
            <a:r>
              <a:rPr lang="en-US" sz="2000" b="1" i="0" dirty="0">
                <a:solidFill>
                  <a:schemeClr val="bg1"/>
                </a:solidFill>
                <a:effectLst/>
                <a:latin typeface="Google Sans"/>
              </a:rPr>
              <a:t>: </a:t>
            </a:r>
            <a:r>
              <a:rPr lang="en-US" sz="2000" b="0" i="0" dirty="0">
                <a:solidFill>
                  <a:schemeClr val="bg1"/>
                </a:solidFill>
                <a:effectLst/>
                <a:latin typeface="Google Sans"/>
              </a:rPr>
              <a:t>Specialized sensors captured high-resolution images of banknotes, providing detailed data for analysis.</a:t>
            </a:r>
          </a:p>
          <a:p>
            <a:pPr algn="l">
              <a:buFont typeface="Arial" panose="020B0604020202020204" pitchFamily="34" charset="0"/>
              <a:buChar char="•"/>
            </a:pPr>
            <a:r>
              <a:rPr lang="en-US" sz="2000" b="1" i="0" dirty="0">
                <a:solidFill>
                  <a:schemeClr val="bg1"/>
                </a:solidFill>
                <a:effectLst/>
                <a:latin typeface="Google Sans"/>
              </a:rPr>
              <a:t>Machine Learning</a:t>
            </a:r>
            <a:r>
              <a:rPr lang="en-US" sz="2000" b="0" i="0" dirty="0">
                <a:solidFill>
                  <a:schemeClr val="bg1"/>
                </a:solidFill>
                <a:effectLst/>
                <a:latin typeface="Google Sans"/>
              </a:rPr>
              <a:t>: Machine learning algorithms were trained on large datasets of genuine and counterfeit banknotes, enabling them to learn and identify patterns that differentiated the two.</a:t>
            </a:r>
          </a:p>
          <a:p>
            <a:pPr algn="l"/>
            <a:r>
              <a:rPr lang="en-US" sz="2000" b="1" i="0" u="sng" dirty="0">
                <a:solidFill>
                  <a:srgbClr val="FFFF00"/>
                </a:solidFill>
                <a:effectLst/>
                <a:latin typeface="Google Sans"/>
              </a:rPr>
              <a:t>Current Landscape</a:t>
            </a:r>
          </a:p>
          <a:p>
            <a:pPr algn="l"/>
            <a:r>
              <a:rPr lang="en-US" sz="2000" b="0" i="0" dirty="0">
                <a:solidFill>
                  <a:schemeClr val="bg1"/>
                </a:solidFill>
                <a:effectLst/>
                <a:latin typeface="Google Sans"/>
              </a:rPr>
              <a:t>Today, banknote authentication systems are highly sophisticated, combining advanced image processing, machine learning, and sensor technologies. These systems are integrated into various devices, including ATMs, banknote counting machines, and point-of-sale terminals, ensuring the security of cash transactions.</a:t>
            </a:r>
          </a:p>
          <a:p>
            <a:pPr algn="l"/>
            <a:r>
              <a:rPr lang="en-US" sz="2000" b="1" i="0" u="sng" dirty="0">
                <a:solidFill>
                  <a:srgbClr val="FFFF00"/>
                </a:solidFill>
                <a:effectLst/>
                <a:latin typeface="Google Sans"/>
              </a:rPr>
              <a:t>Impact of Technological Advancements</a:t>
            </a:r>
          </a:p>
          <a:p>
            <a:pPr algn="l"/>
            <a:r>
              <a:rPr lang="en-US" sz="2000" b="0" i="0" dirty="0">
                <a:solidFill>
                  <a:schemeClr val="bg1"/>
                </a:solidFill>
                <a:effectLst/>
                <a:latin typeface="Google Sans"/>
              </a:rPr>
              <a:t>The evolution of banknote authentication systems has significantly enhanced the security and efficiency of cash transactions. Technological advancements have:</a:t>
            </a:r>
          </a:p>
          <a:p>
            <a:pPr algn="l">
              <a:buFont typeface="Arial" panose="020B0604020202020204" pitchFamily="34" charset="0"/>
              <a:buChar char="•"/>
            </a:pPr>
            <a:r>
              <a:rPr lang="en-US" sz="2000" b="1" i="0" dirty="0">
                <a:solidFill>
                  <a:schemeClr val="bg1"/>
                </a:solidFill>
                <a:effectLst/>
                <a:latin typeface="Google Sans"/>
              </a:rPr>
              <a:t>Increased Accuracy</a:t>
            </a:r>
            <a:r>
              <a:rPr lang="en-US" sz="2000" b="0" i="0" dirty="0">
                <a:solidFill>
                  <a:schemeClr val="bg1"/>
                </a:solidFill>
                <a:effectLst/>
                <a:latin typeface="Google Sans"/>
              </a:rPr>
              <a:t>: Automated systems provide more precise and reliable authentication compared to manual inspection.</a:t>
            </a:r>
          </a:p>
          <a:p>
            <a:pPr algn="l">
              <a:buFont typeface="Arial" panose="020B0604020202020204" pitchFamily="34" charset="0"/>
              <a:buChar char="•"/>
            </a:pPr>
            <a:r>
              <a:rPr lang="en-US" sz="2000" b="1" i="0" dirty="0">
                <a:solidFill>
                  <a:schemeClr val="bg1"/>
                </a:solidFill>
                <a:effectLst/>
                <a:latin typeface="Google Sans"/>
              </a:rPr>
              <a:t>Reduced Counterfeiting: </a:t>
            </a:r>
            <a:r>
              <a:rPr lang="en-US" sz="2000" b="0" i="0" dirty="0">
                <a:solidFill>
                  <a:schemeClr val="bg1"/>
                </a:solidFill>
                <a:effectLst/>
                <a:latin typeface="Google Sans"/>
              </a:rPr>
              <a:t>The sophistication of authentication systems has made it more challenging and costly to produce counterfeit banknotes.</a:t>
            </a:r>
          </a:p>
          <a:p>
            <a:pPr algn="l"/>
            <a:r>
              <a:rPr lang="en-US" sz="2000" b="1" i="0" dirty="0">
                <a:solidFill>
                  <a:schemeClr val="bg1"/>
                </a:solidFill>
                <a:effectLst/>
                <a:latin typeface="Google Sans"/>
              </a:rPr>
              <a:t>Improved Efficiency</a:t>
            </a:r>
            <a:r>
              <a:rPr lang="en-US" sz="2000" b="0" i="0" dirty="0">
                <a:solidFill>
                  <a:schemeClr val="bg1"/>
                </a:solidFill>
                <a:effectLst/>
                <a:latin typeface="Google Sans"/>
              </a:rPr>
              <a:t>: Automated systems can process large volumes of banknotes quickly, reducing processing time and costs. </a:t>
            </a:r>
          </a:p>
        </p:txBody>
      </p:sp>
    </p:spTree>
    <p:extLst>
      <p:ext uri="{BB962C8B-B14F-4D97-AF65-F5344CB8AC3E}">
        <p14:creationId xmlns:p14="http://schemas.microsoft.com/office/powerpoint/2010/main" val="141627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635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92568" y="439152"/>
            <a:ext cx="13412190" cy="1094874"/>
          </a:xfrm>
          <a:prstGeom prst="rect">
            <a:avLst/>
          </a:prstGeom>
          <a:noFill/>
          <a:ln/>
        </p:spPr>
        <p:txBody>
          <a:bodyPr wrap="none" rtlCol="0" anchor="t"/>
          <a:lstStyle/>
          <a:p>
            <a:pPr marL="0" indent="0" algn="ctr">
              <a:buNone/>
            </a:pPr>
            <a:r>
              <a:rPr lang="en-US" sz="2000" dirty="0">
                <a:solidFill>
                  <a:schemeClr val="bg1"/>
                </a:solidFill>
              </a:rPr>
              <a:t>LITERATURE REVIEW </a:t>
            </a:r>
            <a:r>
              <a:rPr lang="en-US" sz="2000" dirty="0" err="1">
                <a:solidFill>
                  <a:schemeClr val="bg1"/>
                </a:solidFill>
              </a:rPr>
              <a:t>cont</a:t>
            </a:r>
            <a:r>
              <a:rPr lang="en-US" sz="2000" dirty="0">
                <a:solidFill>
                  <a:schemeClr val="bg1"/>
                </a:solidFill>
              </a:rPr>
              <a:t>….</a:t>
            </a:r>
            <a:endParaRPr lang="en-US" sz="4374" dirty="0"/>
          </a:p>
        </p:txBody>
      </p:sp>
      <p:sp>
        <p:nvSpPr>
          <p:cNvPr id="6" name="Text 2"/>
          <p:cNvSpPr/>
          <p:nvPr/>
        </p:nvSpPr>
        <p:spPr>
          <a:xfrm>
            <a:off x="300790" y="1052763"/>
            <a:ext cx="14329610" cy="6605337"/>
          </a:xfrm>
          <a:prstGeom prst="rect">
            <a:avLst/>
          </a:prstGeom>
          <a:noFill/>
          <a:ln/>
        </p:spPr>
        <p:txBody>
          <a:bodyPr wrap="square" rtlCol="0" anchor="t"/>
          <a:lstStyle/>
          <a:p>
            <a:pPr algn="l">
              <a:buFont typeface="Arial" panose="020B0604020202020204" pitchFamily="34" charset="0"/>
              <a:buChar char="•"/>
            </a:pPr>
            <a:r>
              <a:rPr lang="en-US" sz="2000" b="1" i="0" u="sng" dirty="0">
                <a:solidFill>
                  <a:srgbClr val="FFFF00"/>
                </a:solidFill>
                <a:effectLst/>
                <a:latin typeface="Google Sans"/>
              </a:rPr>
              <a:t>Emerging Technologies and Future Directions</a:t>
            </a:r>
          </a:p>
          <a:p>
            <a:pPr algn="l"/>
            <a:r>
              <a:rPr lang="en-US" sz="2000" b="0" i="0" dirty="0">
                <a:solidFill>
                  <a:schemeClr val="bg1"/>
                </a:solidFill>
                <a:effectLst/>
                <a:latin typeface="Google Sans"/>
              </a:rPr>
              <a:t>The future of banknote authentication lies in the integration of cutting-edge technologies that can further enhance the accuracy, efficiency, and security of cash transactions. Researchers are actively exploring the potential of various emerging technologies, including:</a:t>
            </a:r>
          </a:p>
          <a:p>
            <a:pPr>
              <a:buFont typeface="Arial" panose="020B0604020202020204" pitchFamily="34" charset="0"/>
              <a:buChar char="•"/>
            </a:pPr>
            <a:r>
              <a:rPr lang="en-US" sz="2000" b="1" i="0" dirty="0">
                <a:solidFill>
                  <a:schemeClr val="accent2">
                    <a:lumMod val="75000"/>
                  </a:schemeClr>
                </a:solidFill>
                <a:effectLst/>
                <a:latin typeface="Google Sans"/>
              </a:rPr>
              <a:t>Artificial Intelligence (AI</a:t>
            </a:r>
            <a:r>
              <a:rPr lang="en-US" sz="2000" b="0" i="0" dirty="0">
                <a:solidFill>
                  <a:schemeClr val="accent2">
                    <a:lumMod val="75000"/>
                  </a:schemeClr>
                </a:solidFill>
                <a:effectLst/>
                <a:latin typeface="Google Sans"/>
              </a:rPr>
              <a:t>): </a:t>
            </a:r>
            <a:r>
              <a:rPr lang="en-US" sz="2000" b="0" i="0" dirty="0">
                <a:solidFill>
                  <a:schemeClr val="bg1"/>
                </a:solidFill>
                <a:effectLst/>
                <a:latin typeface="Google Sans"/>
              </a:rPr>
              <a:t>AI algorithms, particularly deep learning, have demonstrated remarkable capabilities in image recognition and pattern analysis. By incorporating AI into authentication systems, researchers aim to develop models that can learn and adapt to the ever-changing landscape of counterfeit techniques.</a:t>
            </a:r>
            <a:r>
              <a:rPr lang="en-US" sz="2000" b="0" i="0" dirty="0">
                <a:effectLst/>
                <a:latin typeface="Google Sans"/>
              </a:rPr>
              <a:t> </a:t>
            </a:r>
          </a:p>
          <a:p>
            <a:pPr>
              <a:buFont typeface="Arial" panose="020B0604020202020204" pitchFamily="34" charset="0"/>
              <a:buChar char="•"/>
            </a:pPr>
            <a:r>
              <a:rPr lang="en-US" sz="2000" b="1" i="0" dirty="0">
                <a:solidFill>
                  <a:schemeClr val="accent2">
                    <a:lumMod val="75000"/>
                  </a:schemeClr>
                </a:solidFill>
                <a:effectLst/>
                <a:latin typeface="Google Sans"/>
              </a:rPr>
              <a:t>Blockchain Technology</a:t>
            </a:r>
            <a:r>
              <a:rPr lang="en-US" sz="2000" b="1" i="0" dirty="0">
                <a:solidFill>
                  <a:schemeClr val="bg1"/>
                </a:solidFill>
                <a:effectLst/>
                <a:latin typeface="Google Sans"/>
              </a:rPr>
              <a:t>: </a:t>
            </a:r>
            <a:r>
              <a:rPr lang="en-US" sz="2000" b="0" i="0" dirty="0">
                <a:solidFill>
                  <a:schemeClr val="bg1"/>
                </a:solidFill>
                <a:effectLst/>
                <a:latin typeface="Google Sans"/>
              </a:rPr>
              <a:t>Blockchain's inherent security and tamper-proof nature offer promising possibilities for banknote authentication. By linking banknotes to unique blockchain identifiers, researchers envision a system where the authenticity of each note can be verified through the distributed ledger.</a:t>
            </a:r>
          </a:p>
          <a:p>
            <a:pPr algn="l">
              <a:buFont typeface="Arial" panose="020B0604020202020204" pitchFamily="34" charset="0"/>
              <a:buChar char="•"/>
            </a:pPr>
            <a:r>
              <a:rPr lang="en-US" sz="2000" b="1" i="0" dirty="0">
                <a:solidFill>
                  <a:schemeClr val="accent2">
                    <a:lumMod val="75000"/>
                  </a:schemeClr>
                </a:solidFill>
                <a:effectLst/>
                <a:latin typeface="Google Sans"/>
              </a:rPr>
              <a:t>Nano-Technology</a:t>
            </a:r>
            <a:r>
              <a:rPr lang="en-US" sz="2000" b="0" i="0" dirty="0">
                <a:solidFill>
                  <a:schemeClr val="bg1"/>
                </a:solidFill>
                <a:effectLst/>
                <a:latin typeface="Google Sans"/>
              </a:rPr>
              <a:t>: Nano-technology advancements hold the potential for embedding microscopic security features into banknotes that are undetectable by the naked eye but can be readily identified by specialized sensors. These features could provide an additional layer of security against counterfeiting.</a:t>
            </a:r>
          </a:p>
          <a:p>
            <a:pPr algn="l"/>
            <a:r>
              <a:rPr lang="en-US" sz="2000" b="1" i="0" u="sng" dirty="0">
                <a:solidFill>
                  <a:srgbClr val="FFFF00"/>
                </a:solidFill>
                <a:effectLst/>
                <a:latin typeface="Google Sans"/>
              </a:rPr>
              <a:t>Challenges and Considerations</a:t>
            </a:r>
          </a:p>
          <a:p>
            <a:pPr algn="l"/>
            <a:r>
              <a:rPr lang="en-US" sz="2000" b="0" i="0" dirty="0">
                <a:solidFill>
                  <a:schemeClr val="bg1"/>
                </a:solidFill>
                <a:effectLst/>
                <a:latin typeface="Google Sans"/>
              </a:rPr>
              <a:t>While emerging technologies present exciting possibilities for banknote authentication, several challenges and considerations need to be addressed:</a:t>
            </a:r>
          </a:p>
          <a:p>
            <a:pPr algn="l">
              <a:buFont typeface="Arial" panose="020B0604020202020204" pitchFamily="34" charset="0"/>
              <a:buChar char="•"/>
            </a:pPr>
            <a:r>
              <a:rPr lang="en-US" sz="2000" b="1" i="0" dirty="0">
                <a:solidFill>
                  <a:schemeClr val="accent2">
                    <a:lumMod val="75000"/>
                  </a:schemeClr>
                </a:solidFill>
                <a:effectLst/>
                <a:latin typeface="Google Sans"/>
              </a:rPr>
              <a:t>Data Privacy</a:t>
            </a:r>
            <a:r>
              <a:rPr lang="en-US" sz="2000" b="0" i="0" dirty="0">
                <a:solidFill>
                  <a:schemeClr val="accent2">
                    <a:lumMod val="75000"/>
                  </a:schemeClr>
                </a:solidFill>
                <a:effectLst/>
                <a:latin typeface="Google Sans"/>
              </a:rPr>
              <a:t>: </a:t>
            </a:r>
            <a:r>
              <a:rPr lang="en-US" sz="2000" b="0" i="0" dirty="0">
                <a:solidFill>
                  <a:schemeClr val="bg1"/>
                </a:solidFill>
                <a:effectLst/>
                <a:latin typeface="Google Sans"/>
              </a:rPr>
              <a:t>The collection, storage, and analysis of banknote data raise privacy concerns. Researchers and developers must ensure that these systems are designed with robust privacy safeguards in place.</a:t>
            </a:r>
          </a:p>
          <a:p>
            <a:pPr algn="l">
              <a:buFont typeface="Arial" panose="020B0604020202020204" pitchFamily="34" charset="0"/>
              <a:buChar char="•"/>
            </a:pPr>
            <a:r>
              <a:rPr lang="en-US" sz="2000" b="1" i="0" dirty="0">
                <a:solidFill>
                  <a:schemeClr val="accent2">
                    <a:lumMod val="75000"/>
                  </a:schemeClr>
                </a:solidFill>
                <a:effectLst/>
                <a:latin typeface="Google Sans"/>
              </a:rPr>
              <a:t>Technology Integration</a:t>
            </a:r>
            <a:r>
              <a:rPr lang="en-US" sz="2000" b="0" i="0" dirty="0">
                <a:solidFill>
                  <a:schemeClr val="bg1"/>
                </a:solidFill>
                <a:effectLst/>
                <a:latin typeface="Google Sans"/>
              </a:rPr>
              <a:t>: Integrating emerging technologies into existing authentication infrastructure requires careful consideration of compatibility, interoperability, and scalability.</a:t>
            </a:r>
          </a:p>
          <a:p>
            <a:pPr algn="l">
              <a:buFont typeface="Arial" panose="020B0604020202020204" pitchFamily="34" charset="0"/>
              <a:buChar char="•"/>
            </a:pPr>
            <a:r>
              <a:rPr lang="en-US" sz="2000" b="1" i="0" dirty="0">
                <a:solidFill>
                  <a:schemeClr val="bg1"/>
                </a:solidFill>
                <a:effectLst/>
                <a:latin typeface="Google Sans"/>
              </a:rPr>
              <a:t>Real-time Implementation</a:t>
            </a:r>
            <a:r>
              <a:rPr lang="en-US" sz="2000" b="0" i="0" dirty="0">
                <a:solidFill>
                  <a:schemeClr val="bg1"/>
                </a:solidFill>
                <a:effectLst/>
                <a:latin typeface="Google Sans"/>
              </a:rPr>
              <a:t>: Real-time authentication systems pose challenges in terms of processing power, computational demands, and network latency. Researchers must develop solutions that can operate efficiently in real-world scenarios.</a:t>
            </a:r>
          </a:p>
          <a:p>
            <a:pPr algn="l">
              <a:buFont typeface="Arial" panose="020B0604020202020204" pitchFamily="34" charset="0"/>
              <a:buChar char="•"/>
            </a:pPr>
            <a:endParaRPr lang="en-US" sz="1600" b="0" i="0" dirty="0">
              <a:solidFill>
                <a:schemeClr val="bg1"/>
              </a:solidFill>
              <a:effectLst/>
              <a:latin typeface="Google Sans"/>
            </a:endParaRPr>
          </a:p>
        </p:txBody>
      </p:sp>
    </p:spTree>
    <p:extLst>
      <p:ext uri="{BB962C8B-B14F-4D97-AF65-F5344CB8AC3E}">
        <p14:creationId xmlns:p14="http://schemas.microsoft.com/office/powerpoint/2010/main" val="1793414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202018"/>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92568" y="439152"/>
            <a:ext cx="13321953" cy="703847"/>
          </a:xfrm>
          <a:prstGeom prst="rect">
            <a:avLst/>
          </a:prstGeom>
          <a:noFill/>
          <a:ln/>
        </p:spPr>
        <p:txBody>
          <a:bodyPr wrap="none" rtlCol="0" anchor="t"/>
          <a:lstStyle/>
          <a:p>
            <a:pPr marL="0" indent="0" algn="ctr">
              <a:buNone/>
            </a:pPr>
            <a:r>
              <a:rPr lang="en-US" sz="4800" dirty="0">
                <a:solidFill>
                  <a:srgbClr val="FFC000"/>
                </a:solidFill>
              </a:rPr>
              <a:t>Gaps in the literature</a:t>
            </a:r>
            <a:endParaRPr lang="en-US" sz="4374" dirty="0">
              <a:solidFill>
                <a:srgbClr val="FFC000"/>
              </a:solidFill>
            </a:endParaRPr>
          </a:p>
        </p:txBody>
      </p:sp>
      <p:sp>
        <p:nvSpPr>
          <p:cNvPr id="6" name="Text 2"/>
          <p:cNvSpPr/>
          <p:nvPr/>
        </p:nvSpPr>
        <p:spPr>
          <a:xfrm>
            <a:off x="300790" y="1142999"/>
            <a:ext cx="14139110" cy="7004051"/>
          </a:xfrm>
          <a:prstGeom prst="rect">
            <a:avLst/>
          </a:prstGeom>
          <a:noFill/>
          <a:ln/>
        </p:spPr>
        <p:txBody>
          <a:bodyPr wrap="square" rtlCol="0" anchor="t"/>
          <a:lstStyle/>
          <a:p>
            <a:pPr algn="l"/>
            <a:r>
              <a:rPr lang="en-US" sz="2000" b="0" i="0" dirty="0">
                <a:solidFill>
                  <a:srgbClr val="D4D1CB"/>
                </a:solidFill>
                <a:effectLst/>
                <a:latin typeface="Google Sans"/>
              </a:rPr>
              <a:t>Despite the significant progress made in developing ML classification algorithms for banknote authentication, there are still several research gaps that need to be addressed to further enhance the effectiveness and robustness of these systems. These gaps include:</a:t>
            </a:r>
          </a:p>
          <a:p>
            <a:pPr algn="l">
              <a:buFont typeface="Arial" panose="020B0604020202020204" pitchFamily="34" charset="0"/>
              <a:buChar char="•"/>
            </a:pPr>
            <a:r>
              <a:rPr lang="en-US" sz="2000" b="1" i="0" dirty="0">
                <a:solidFill>
                  <a:schemeClr val="accent4"/>
                </a:solidFill>
                <a:effectLst/>
                <a:latin typeface="Google Sans"/>
              </a:rPr>
              <a:t>Limited understanding of the impact of different feature extraction methods on classification performance.</a:t>
            </a:r>
          </a:p>
          <a:p>
            <a:pPr algn="l"/>
            <a:r>
              <a:rPr lang="en-US" sz="2000" b="0" i="0" dirty="0">
                <a:solidFill>
                  <a:srgbClr val="D4D1CB"/>
                </a:solidFill>
                <a:effectLst/>
                <a:latin typeface="Google Sans"/>
              </a:rPr>
              <a:t>Current research on banknote authentication using ML classification algorithms primarily focuses on evaluating the performance of different classifiers. However, there is a limited understanding of how different feature extraction methods can affect the classification performance of these algorithms. A more thorough investigation of feature extraction methods could lead to the development of more effective classification systems.</a:t>
            </a:r>
          </a:p>
          <a:p>
            <a:pPr algn="l">
              <a:buFont typeface="Arial" panose="020B0604020202020204" pitchFamily="34" charset="0"/>
              <a:buChar char="•"/>
            </a:pPr>
            <a:r>
              <a:rPr lang="en-US" sz="2000" b="0" i="0" dirty="0">
                <a:solidFill>
                  <a:schemeClr val="accent4"/>
                </a:solidFill>
                <a:effectLst/>
                <a:latin typeface="Google Sans"/>
              </a:rPr>
              <a:t>Need for improved generalization ability to handle diverse counterfeit techniques.</a:t>
            </a:r>
          </a:p>
          <a:p>
            <a:pPr algn="l"/>
            <a:r>
              <a:rPr lang="en-US" sz="2000" b="0" i="0" dirty="0">
                <a:solidFill>
                  <a:srgbClr val="D4D1CB"/>
                </a:solidFill>
                <a:effectLst/>
                <a:latin typeface="Google Sans"/>
              </a:rPr>
              <a:t>Current ML classification algorithms often struggle to generalize effectively to new counterfeit techniques. This is because these algorithms are trained on datasets that may not adequately represent the full range of counterfeit techniques used by criminals. Developing algorithms that can generalize better to new counterfeit techniques is crucial for ensuring the long-term effectiveness of banknote authentication systems.</a:t>
            </a:r>
          </a:p>
          <a:p>
            <a:pPr algn="l">
              <a:buFont typeface="Arial" panose="020B0604020202020204" pitchFamily="34" charset="0"/>
              <a:buChar char="•"/>
            </a:pPr>
            <a:r>
              <a:rPr lang="en-US" sz="2000" b="0" i="0" dirty="0">
                <a:solidFill>
                  <a:schemeClr val="accent4"/>
                </a:solidFill>
                <a:effectLst/>
                <a:latin typeface="Google Sans"/>
              </a:rPr>
              <a:t>Lack of research on the impact of different data augmentation techniques on classification performance</a:t>
            </a:r>
            <a:r>
              <a:rPr lang="en-US" sz="2000" b="0" i="0" dirty="0">
                <a:solidFill>
                  <a:srgbClr val="D4D1CB"/>
                </a:solidFill>
                <a:effectLst/>
                <a:latin typeface="Google Sans"/>
              </a:rPr>
              <a:t>.</a:t>
            </a:r>
          </a:p>
          <a:p>
            <a:pPr algn="l"/>
            <a:r>
              <a:rPr lang="en-US" sz="2000" b="0" i="0" dirty="0">
                <a:solidFill>
                  <a:srgbClr val="D4D1CB"/>
                </a:solidFill>
                <a:effectLst/>
                <a:latin typeface="Google Sans"/>
              </a:rPr>
              <a:t>Data augmentation techniques can be used to artificially increase the size of the training dataset, which can improve the generalization ability of ML classifiers. However, there is a lack of research on the impact of different data augmentation techniques on the classification performance of banknote authentication systems. Investigating the effectiveness of different data augmentation techniques could lead to the development of more robust classification models.</a:t>
            </a:r>
          </a:p>
          <a:p>
            <a:pPr algn="l">
              <a:buFont typeface="Arial" panose="020B0604020202020204" pitchFamily="34" charset="0"/>
              <a:buChar char="•"/>
            </a:pPr>
            <a:r>
              <a:rPr lang="en-US" sz="2000" b="0" i="0" dirty="0">
                <a:solidFill>
                  <a:schemeClr val="accent4"/>
                </a:solidFill>
                <a:effectLst/>
                <a:latin typeface="Google Sans"/>
              </a:rPr>
              <a:t>Need for real-time banknote authentication systems for ATM and retail applications.</a:t>
            </a:r>
          </a:p>
          <a:p>
            <a:pPr algn="l"/>
            <a:r>
              <a:rPr lang="en-US" sz="2000" b="0" i="0" dirty="0">
                <a:solidFill>
                  <a:srgbClr val="D4D1CB"/>
                </a:solidFill>
                <a:effectLst/>
                <a:latin typeface="Google Sans"/>
              </a:rPr>
              <a:t>Current banknote authentication systems are primarily designed for offline analysis of banknotes. However, there is a need for real-time banknote authentication systems that can be integrated into ATMs and retail point-of-sale systems. Developing real-time banknote authentication systems would require overcoming challenges related to computational efficiency and latency constraints.</a:t>
            </a:r>
          </a:p>
          <a:p>
            <a:pPr marL="8890" marR="1125855" indent="-6350" algn="just">
              <a:lnSpc>
                <a:spcPct val="150000"/>
              </a:lnSpc>
              <a:spcBef>
                <a:spcPts val="0"/>
              </a:spcBef>
              <a:spcAft>
                <a:spcPts val="1555"/>
              </a:spcAft>
            </a:pPr>
            <a:endParaRPr lang="en-US" sz="2000" b="0" i="0" dirty="0">
              <a:solidFill>
                <a:schemeClr val="bg1"/>
              </a:solidFill>
              <a:effectLst/>
              <a:latin typeface="Google Sans"/>
            </a:endParaRPr>
          </a:p>
        </p:txBody>
      </p:sp>
    </p:spTree>
    <p:extLst>
      <p:ext uri="{BB962C8B-B14F-4D97-AF65-F5344CB8AC3E}">
        <p14:creationId xmlns:p14="http://schemas.microsoft.com/office/powerpoint/2010/main" val="1004746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42529"/>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92568" y="439152"/>
            <a:ext cx="13514458" cy="501829"/>
          </a:xfrm>
          <a:prstGeom prst="rect">
            <a:avLst/>
          </a:prstGeom>
          <a:noFill/>
          <a:ln/>
        </p:spPr>
        <p:txBody>
          <a:bodyPr wrap="none" rtlCol="0" anchor="t"/>
          <a:lstStyle/>
          <a:p>
            <a:pPr marL="0" indent="0" algn="ctr">
              <a:buNone/>
            </a:pPr>
            <a:r>
              <a:rPr lang="en-US" sz="4800" dirty="0">
                <a:solidFill>
                  <a:srgbClr val="FFC000"/>
                </a:solidFill>
              </a:rPr>
              <a:t>Gaps in the literature cont..</a:t>
            </a:r>
            <a:endParaRPr lang="en-US" sz="4374" dirty="0">
              <a:solidFill>
                <a:srgbClr val="FFC000"/>
              </a:solidFill>
            </a:endParaRPr>
          </a:p>
        </p:txBody>
      </p:sp>
      <p:sp>
        <p:nvSpPr>
          <p:cNvPr id="6" name="Text 2"/>
          <p:cNvSpPr/>
          <p:nvPr/>
        </p:nvSpPr>
        <p:spPr>
          <a:xfrm>
            <a:off x="300790" y="1337604"/>
            <a:ext cx="14151810" cy="6320496"/>
          </a:xfrm>
          <a:prstGeom prst="rect">
            <a:avLst/>
          </a:prstGeom>
          <a:noFill/>
          <a:ln/>
        </p:spPr>
        <p:txBody>
          <a:bodyPr wrap="square" rtlCol="0" anchor="t"/>
          <a:lstStyle/>
          <a:p>
            <a:pPr algn="l">
              <a:buFont typeface="Arial" panose="020B0604020202020204" pitchFamily="34" charset="0"/>
              <a:buChar char="•"/>
            </a:pPr>
            <a:r>
              <a:rPr lang="en-US" sz="2000" b="0" i="0" dirty="0">
                <a:solidFill>
                  <a:srgbClr val="D4D1CB"/>
                </a:solidFill>
                <a:effectLst/>
                <a:latin typeface="Google Sans"/>
              </a:rPr>
              <a:t>Limited research on the use of explainable AI (XAI) techniques for banknote authentication.</a:t>
            </a:r>
          </a:p>
          <a:p>
            <a:pPr algn="l"/>
            <a:r>
              <a:rPr lang="en-US" sz="2000" b="0" i="0" dirty="0">
                <a:solidFill>
                  <a:srgbClr val="D4D1CB"/>
                </a:solidFill>
                <a:effectLst/>
                <a:latin typeface="Google Sans"/>
              </a:rPr>
              <a:t>XAI techniques can provide insights into how ML models make decisions, which can be helpful for understanding the strengths and weaknesses of these models. However, there is limited research on the use of XAI techniques for banknote authentication. Applying XAI techniques to banknote authentication systems could help identify potential biases or limitations in these models and improve their overall interpretability.</a:t>
            </a:r>
          </a:p>
          <a:p>
            <a:pPr algn="l"/>
            <a:r>
              <a:rPr lang="en-US" sz="2000" b="0" i="0" dirty="0">
                <a:solidFill>
                  <a:srgbClr val="D4D1CB"/>
                </a:solidFill>
                <a:effectLst/>
                <a:latin typeface="Google Sans"/>
              </a:rPr>
              <a:t>Future Directions</a:t>
            </a:r>
          </a:p>
          <a:p>
            <a:pPr algn="l"/>
            <a:r>
              <a:rPr lang="en-US" sz="2000" b="0" i="0" dirty="0">
                <a:solidFill>
                  <a:srgbClr val="D4D1CB"/>
                </a:solidFill>
                <a:effectLst/>
                <a:latin typeface="Google Sans"/>
              </a:rPr>
              <a:t>Addressing these research gaps will require further collaboration between researchers from different disciplines, including computer science, machine learning, and data science. By working together, researchers can develop more effective and robust banknote authentication systems that can help combat the growing threat of counterfeiting.</a:t>
            </a:r>
          </a:p>
          <a:p>
            <a:pPr marL="8890" marR="1125855" indent="-6350" algn="just">
              <a:lnSpc>
                <a:spcPct val="150000"/>
              </a:lnSpc>
              <a:spcBef>
                <a:spcPts val="0"/>
              </a:spcBef>
              <a:spcAft>
                <a:spcPts val="1555"/>
              </a:spcAft>
            </a:pPr>
            <a:endParaRPr lang="en-US" sz="2000" b="0" i="0" dirty="0">
              <a:solidFill>
                <a:schemeClr val="bg1"/>
              </a:solidFill>
              <a:effectLst/>
              <a:latin typeface="Google Sans"/>
            </a:endParaRPr>
          </a:p>
          <a:p>
            <a:pPr marL="8890" marR="1125855" indent="-6350" algn="just">
              <a:lnSpc>
                <a:spcPct val="150000"/>
              </a:lnSpc>
              <a:spcBef>
                <a:spcPts val="0"/>
              </a:spcBef>
              <a:spcAft>
                <a:spcPts val="1555"/>
              </a:spcAft>
            </a:pPr>
            <a:endParaRPr lang="en-US" sz="2000" b="0" i="0" dirty="0">
              <a:solidFill>
                <a:schemeClr val="bg1"/>
              </a:solidFill>
              <a:effectLst/>
              <a:latin typeface="Google Sans"/>
            </a:endParaRPr>
          </a:p>
        </p:txBody>
      </p:sp>
    </p:spTree>
    <p:extLst>
      <p:ext uri="{BB962C8B-B14F-4D97-AF65-F5344CB8AC3E}">
        <p14:creationId xmlns:p14="http://schemas.microsoft.com/office/powerpoint/2010/main" val="1342775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42529"/>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92568" y="439152"/>
            <a:ext cx="13923532" cy="501829"/>
          </a:xfrm>
          <a:prstGeom prst="rect">
            <a:avLst/>
          </a:prstGeom>
          <a:noFill/>
          <a:ln/>
        </p:spPr>
        <p:txBody>
          <a:bodyPr wrap="none" rtlCol="0" anchor="t"/>
          <a:lstStyle/>
          <a:p>
            <a:pPr algn="ctr"/>
            <a:r>
              <a:rPr lang="en-US" sz="4800" b="1" i="0" u="sng" dirty="0">
                <a:solidFill>
                  <a:srgbClr val="FFC000"/>
                </a:solidFill>
                <a:effectLst/>
                <a:latin typeface="Söhne"/>
              </a:rPr>
              <a:t>TRENDS AND PATTERNS </a:t>
            </a:r>
          </a:p>
          <a:p>
            <a:pPr marL="0" indent="0" algn="ctr">
              <a:buNone/>
            </a:pPr>
            <a:r>
              <a:rPr lang="en-US" sz="4800" dirty="0">
                <a:solidFill>
                  <a:schemeClr val="bg1"/>
                </a:solidFill>
              </a:rPr>
              <a:t>..</a:t>
            </a:r>
            <a:endParaRPr lang="en-US" sz="4374" dirty="0"/>
          </a:p>
        </p:txBody>
      </p:sp>
      <p:sp>
        <p:nvSpPr>
          <p:cNvPr id="6" name="Text 2"/>
          <p:cNvSpPr/>
          <p:nvPr/>
        </p:nvSpPr>
        <p:spPr>
          <a:xfrm>
            <a:off x="300790" y="1142999"/>
            <a:ext cx="14052884" cy="6515101"/>
          </a:xfrm>
          <a:prstGeom prst="rect">
            <a:avLst/>
          </a:prstGeom>
          <a:noFill/>
          <a:ln/>
        </p:spPr>
        <p:txBody>
          <a:bodyPr wrap="square" rtlCol="0" anchor="t"/>
          <a:lstStyle/>
          <a:p>
            <a:pPr algn="l">
              <a:buFont typeface="+mj-lt"/>
              <a:buAutoNum type="arabicPeriod"/>
            </a:pPr>
            <a:r>
              <a:rPr lang="en-US" sz="2000" b="1" i="0" dirty="0">
                <a:solidFill>
                  <a:schemeClr val="accent4"/>
                </a:solidFill>
                <a:effectLst/>
                <a:latin typeface="Söhne"/>
              </a:rPr>
              <a:t>Enhanced Security Features</a:t>
            </a:r>
            <a:r>
              <a:rPr lang="en-US" sz="2000" b="0" i="0" dirty="0">
                <a:solidFill>
                  <a:schemeClr val="bg1"/>
                </a:solidFill>
                <a:effectLst/>
                <a:latin typeface="Söhne"/>
              </a:rPr>
              <a:t>: One prominent trend in banknote authentication systems is the continuous enhancement of security features. Central banks and monetary authorities are incorporating advanced technologies such as holograms, color-shifting ink, microprinting, and UV ink to make it increasingly difficult for counterfeiters to replicate banknotes.</a:t>
            </a:r>
          </a:p>
          <a:p>
            <a:pPr algn="l">
              <a:buFont typeface="+mj-lt"/>
              <a:buAutoNum type="arabicPeriod"/>
            </a:pPr>
            <a:r>
              <a:rPr lang="en-US" sz="2000" b="1" i="0" dirty="0">
                <a:solidFill>
                  <a:schemeClr val="accent4"/>
                </a:solidFill>
                <a:effectLst/>
                <a:latin typeface="Söhne"/>
              </a:rPr>
              <a:t>Polymer Substrates</a:t>
            </a:r>
            <a:r>
              <a:rPr lang="en-US" sz="2000" b="1" i="0" dirty="0">
                <a:solidFill>
                  <a:schemeClr val="bg1"/>
                </a:solidFill>
                <a:effectLst/>
                <a:latin typeface="Söhne"/>
              </a:rPr>
              <a:t>: </a:t>
            </a:r>
            <a:r>
              <a:rPr lang="en-US" sz="2000" b="0" i="0" dirty="0">
                <a:solidFill>
                  <a:schemeClr val="bg1"/>
                </a:solidFill>
                <a:effectLst/>
                <a:latin typeface="Söhne"/>
              </a:rPr>
              <a:t>Some countries are transitioning from paper-based banknotes to polymer substrates. Polymer banknotes are more durable and offer additional security features, including transparent windows and unique textures that are challenging to counterfeit.</a:t>
            </a:r>
          </a:p>
          <a:p>
            <a:pPr algn="l">
              <a:buFont typeface="+mj-lt"/>
              <a:buAutoNum type="arabicPeriod"/>
            </a:pPr>
            <a:r>
              <a:rPr lang="en-US" sz="2000" b="1" i="0" dirty="0">
                <a:solidFill>
                  <a:schemeClr val="accent4"/>
                </a:solidFill>
                <a:effectLst/>
                <a:latin typeface="Söhne"/>
              </a:rPr>
              <a:t> Machine Learning and AI</a:t>
            </a:r>
            <a:r>
              <a:rPr lang="en-US" sz="2000" b="1" i="0" dirty="0">
                <a:solidFill>
                  <a:schemeClr val="bg1"/>
                </a:solidFill>
                <a:effectLst/>
                <a:latin typeface="Söhne"/>
              </a:rPr>
              <a:t>:</a:t>
            </a:r>
            <a:r>
              <a:rPr lang="en-US" sz="2000" b="0" i="0" dirty="0">
                <a:solidFill>
                  <a:schemeClr val="bg1"/>
                </a:solidFill>
                <a:effectLst/>
                <a:latin typeface="Söhne"/>
              </a:rPr>
              <a:t> Banknote authentication systems are leveraging machine learning and artificial intelligence (AI) algorithms to identify counterfeit banknotes more accurately. These algorithms can analyze various security features and detect anomalies that may indicate counterfeiting.</a:t>
            </a:r>
          </a:p>
          <a:p>
            <a:pPr algn="l">
              <a:buFont typeface="+mj-lt"/>
              <a:buAutoNum type="arabicPeriod"/>
            </a:pPr>
            <a:r>
              <a:rPr lang="en-US" sz="2000" b="1" i="0" dirty="0">
                <a:solidFill>
                  <a:schemeClr val="accent4"/>
                </a:solidFill>
                <a:effectLst/>
                <a:latin typeface="Söhne"/>
              </a:rPr>
              <a:t>Integration with Point-of-Sale Systems</a:t>
            </a:r>
            <a:r>
              <a:rPr lang="en-US" sz="2000" b="1" i="0" dirty="0">
                <a:solidFill>
                  <a:schemeClr val="bg1"/>
                </a:solidFill>
                <a:effectLst/>
                <a:latin typeface="Söhne"/>
              </a:rPr>
              <a:t>: </a:t>
            </a:r>
            <a:r>
              <a:rPr lang="en-US" sz="2000" b="0" i="0" dirty="0">
                <a:solidFill>
                  <a:schemeClr val="bg1"/>
                </a:solidFill>
                <a:effectLst/>
                <a:latin typeface="Söhne"/>
              </a:rPr>
              <a:t>To streamline transactions and enhance security, many businesses are integrating banknote authentication systems with their point-of-sale (POS) systems. This integration allows for real-time verification of banknotes during cash transactions, reducing the risk of accepting counterfeit currency.</a:t>
            </a:r>
          </a:p>
          <a:p>
            <a:pPr algn="l">
              <a:buFont typeface="+mj-lt"/>
              <a:buAutoNum type="arabicPeriod"/>
            </a:pPr>
            <a:r>
              <a:rPr lang="en-US" sz="2000" b="1" i="0" dirty="0">
                <a:solidFill>
                  <a:schemeClr val="accent4"/>
                </a:solidFill>
                <a:effectLst/>
                <a:latin typeface="Söhne"/>
              </a:rPr>
              <a:t>Centralized Databases</a:t>
            </a:r>
            <a:r>
              <a:rPr lang="en-US" sz="2000" b="1" i="0" dirty="0">
                <a:solidFill>
                  <a:schemeClr val="bg1"/>
                </a:solidFill>
                <a:effectLst/>
                <a:latin typeface="Söhne"/>
              </a:rPr>
              <a:t>:</a:t>
            </a:r>
            <a:r>
              <a:rPr lang="en-US" sz="2000" b="0" i="0" dirty="0">
                <a:solidFill>
                  <a:schemeClr val="bg1"/>
                </a:solidFill>
                <a:effectLst/>
                <a:latin typeface="Söhne"/>
              </a:rPr>
              <a:t> Central banks and law enforcement agencies are maintaining centralized databases of counterfeit banknotes. These databases help track and identify counterfeit currency trends, patterns, and sources, aiding in law enforcement efforts to combat counterfeiting.</a:t>
            </a:r>
          </a:p>
          <a:p>
            <a:pPr algn="l">
              <a:buFont typeface="+mj-lt"/>
              <a:buAutoNum type="arabicPeriod"/>
            </a:pPr>
            <a:r>
              <a:rPr lang="en-US" sz="2000" b="1" i="0" dirty="0">
                <a:solidFill>
                  <a:schemeClr val="accent4"/>
                </a:solidFill>
                <a:effectLst/>
                <a:latin typeface="Söhne"/>
              </a:rPr>
              <a:t>International Collaboration</a:t>
            </a:r>
            <a:r>
              <a:rPr lang="en-US" sz="2000" b="1" i="0" dirty="0">
                <a:solidFill>
                  <a:schemeClr val="bg1"/>
                </a:solidFill>
                <a:effectLst/>
                <a:latin typeface="Söhne"/>
              </a:rPr>
              <a:t>: </a:t>
            </a:r>
            <a:r>
              <a:rPr lang="en-US" sz="2000" b="0" i="0" dirty="0">
                <a:solidFill>
                  <a:schemeClr val="bg1"/>
                </a:solidFill>
                <a:effectLst/>
                <a:latin typeface="Söhne"/>
              </a:rPr>
              <a:t>Counterfeiters often operate across borders, necessitating international cooperation. Countries and law enforcement agencies are increasingly collaborating to share information, best practices, and intelligence on counterfeit banknote operations.</a:t>
            </a:r>
          </a:p>
          <a:p>
            <a:pPr marL="8890" marR="1125855" indent="-6350" algn="just">
              <a:lnSpc>
                <a:spcPct val="150000"/>
              </a:lnSpc>
              <a:spcBef>
                <a:spcPts val="0"/>
              </a:spcBef>
              <a:spcAft>
                <a:spcPts val="1555"/>
              </a:spcAft>
            </a:pPr>
            <a:endParaRPr lang="en-US" sz="2000" b="0" i="0" dirty="0">
              <a:solidFill>
                <a:schemeClr val="bg1"/>
              </a:solidFill>
              <a:effectLst/>
              <a:latin typeface="Google Sans"/>
            </a:endParaRPr>
          </a:p>
          <a:p>
            <a:pPr marL="8890" marR="1125855" indent="-6350" algn="just">
              <a:lnSpc>
                <a:spcPct val="150000"/>
              </a:lnSpc>
              <a:spcBef>
                <a:spcPts val="0"/>
              </a:spcBef>
              <a:spcAft>
                <a:spcPts val="1555"/>
              </a:spcAft>
            </a:pPr>
            <a:endParaRPr lang="en-US" sz="2000" b="0" i="0" dirty="0">
              <a:solidFill>
                <a:schemeClr val="bg1"/>
              </a:solidFill>
              <a:effectLst/>
              <a:latin typeface="Google Sans"/>
            </a:endParaRPr>
          </a:p>
        </p:txBody>
      </p:sp>
    </p:spTree>
    <p:extLst>
      <p:ext uri="{BB962C8B-B14F-4D97-AF65-F5344CB8AC3E}">
        <p14:creationId xmlns:p14="http://schemas.microsoft.com/office/powerpoint/2010/main" val="3391498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92568" y="439152"/>
            <a:ext cx="13273827" cy="501829"/>
          </a:xfrm>
          <a:prstGeom prst="rect">
            <a:avLst/>
          </a:prstGeom>
          <a:noFill/>
          <a:ln/>
        </p:spPr>
        <p:txBody>
          <a:bodyPr wrap="none" rtlCol="0" anchor="t"/>
          <a:lstStyle/>
          <a:p>
            <a:pPr algn="ctr"/>
            <a:r>
              <a:rPr lang="en-US" b="1" dirty="0">
                <a:solidFill>
                  <a:srgbClr val="FFC000"/>
                </a:solidFill>
              </a:rPr>
              <a:t>RESEARCH METHODOLOGY</a:t>
            </a:r>
          </a:p>
          <a:p>
            <a:pPr algn="ctr"/>
            <a:r>
              <a:rPr lang="en-US" b="1" u="sng" dirty="0">
                <a:solidFill>
                  <a:srgbClr val="FFC000"/>
                </a:solidFill>
              </a:rPr>
              <a:t>Research design and research method </a:t>
            </a:r>
          </a:p>
        </p:txBody>
      </p:sp>
      <p:sp>
        <p:nvSpPr>
          <p:cNvPr id="6" name="Text 2"/>
          <p:cNvSpPr/>
          <p:nvPr/>
        </p:nvSpPr>
        <p:spPr>
          <a:xfrm>
            <a:off x="300790" y="1142999"/>
            <a:ext cx="13637794" cy="6515101"/>
          </a:xfrm>
          <a:prstGeom prst="rect">
            <a:avLst/>
          </a:prstGeom>
          <a:noFill/>
          <a:ln/>
        </p:spPr>
        <p:txBody>
          <a:bodyPr wrap="square" rtlCol="0" anchor="t"/>
          <a:lstStyle/>
          <a:p>
            <a:pPr algn="l"/>
            <a:r>
              <a:rPr lang="en-US" sz="2000" dirty="0">
                <a:solidFill>
                  <a:schemeClr val="bg1"/>
                </a:solidFill>
                <a:latin typeface="Sitka Display Semibold" pitchFamily="2" charset="0"/>
              </a:rPr>
              <a:t>The research aims to develop a machine learning models for effectively authenticating bank notes as either genuine or counterfeit the system involves :</a:t>
            </a:r>
          </a:p>
          <a:p>
            <a:pPr algn="l"/>
            <a:r>
              <a:rPr lang="en-US" sz="2000" b="1" i="0" dirty="0">
                <a:solidFill>
                  <a:schemeClr val="accent4"/>
                </a:solidFill>
                <a:effectLst/>
                <a:latin typeface="Sitka Display Semibold" pitchFamily="2" charset="0"/>
              </a:rPr>
              <a:t>1.</a:t>
            </a:r>
            <a:r>
              <a:rPr lang="en-US" sz="2000" i="0" dirty="0">
                <a:solidFill>
                  <a:schemeClr val="accent4"/>
                </a:solidFill>
                <a:effectLst/>
                <a:latin typeface="Sitka Display Semibold" pitchFamily="2" charset="0"/>
              </a:rPr>
              <a:t>Data Collection:</a:t>
            </a:r>
          </a:p>
          <a:p>
            <a:pPr marL="742950" lvl="1" indent="-285750" algn="l">
              <a:buFont typeface="Arial" panose="020B0604020202020204" pitchFamily="34" charset="0"/>
              <a:buChar char="•"/>
            </a:pPr>
            <a:r>
              <a:rPr lang="en-US" sz="2000" b="0" i="0" dirty="0">
                <a:solidFill>
                  <a:schemeClr val="bg1"/>
                </a:solidFill>
                <a:effectLst/>
                <a:latin typeface="Sitka Display Semibold" pitchFamily="2" charset="0"/>
              </a:rPr>
              <a:t>Acquire a dataset banknote image data, including both genuine and counterfeit banknotes, from public repositories or through collaborations with banks and central banks.</a:t>
            </a:r>
          </a:p>
          <a:p>
            <a:pPr marL="742950" lvl="1" indent="-285750" algn="l">
              <a:buFont typeface="Arial" panose="020B0604020202020204" pitchFamily="34" charset="0"/>
              <a:buChar char="•"/>
            </a:pPr>
            <a:r>
              <a:rPr lang="en-US" sz="2000" b="0" i="0" dirty="0">
                <a:solidFill>
                  <a:schemeClr val="bg1"/>
                </a:solidFill>
                <a:effectLst/>
                <a:latin typeface="Sitka Display Semibold" pitchFamily="2" charset="0"/>
              </a:rPr>
              <a:t>Ensure the dataset is adequately sized, diverse, and representative of various banknote denominations and security features</a:t>
            </a:r>
          </a:p>
          <a:p>
            <a:pPr algn="l"/>
            <a:r>
              <a:rPr lang="en-US" sz="2000" b="1" i="0" dirty="0">
                <a:solidFill>
                  <a:schemeClr val="accent4"/>
                </a:solidFill>
                <a:effectLst/>
                <a:latin typeface="Sitka Display Semibold" pitchFamily="2" charset="0"/>
              </a:rPr>
              <a:t>2. </a:t>
            </a:r>
            <a:r>
              <a:rPr lang="en-US" sz="2000" i="0" dirty="0">
                <a:solidFill>
                  <a:schemeClr val="accent4"/>
                </a:solidFill>
                <a:effectLst/>
                <a:latin typeface="Sitka Display Semibold" pitchFamily="2" charset="0"/>
              </a:rPr>
              <a:t>Data Preprocessing </a:t>
            </a:r>
            <a:r>
              <a:rPr lang="en-US" sz="2000" b="1" i="0" dirty="0">
                <a:solidFill>
                  <a:schemeClr val="accent4"/>
                </a:solidFill>
                <a:effectLst/>
                <a:latin typeface="Sitka Display Semibold" pitchFamily="2" charset="0"/>
              </a:rPr>
              <a:t>:</a:t>
            </a:r>
            <a:r>
              <a:rPr lang="en-US" sz="2000" b="0" i="0" dirty="0">
                <a:solidFill>
                  <a:schemeClr val="accent4"/>
                </a:solidFill>
                <a:effectLst/>
                <a:latin typeface="Sitka Display Semibold" pitchFamily="2" charset="0"/>
              </a:rPr>
              <a:t>Normalize the image data to a consistent scale for accurate feature extraction and model training. </a:t>
            </a:r>
          </a:p>
          <a:p>
            <a:pPr algn="l"/>
            <a:r>
              <a:rPr lang="en-US" sz="2000" dirty="0">
                <a:solidFill>
                  <a:schemeClr val="accent4"/>
                </a:solidFill>
                <a:latin typeface="Sitka Display Semibold" pitchFamily="2" charset="0"/>
              </a:rPr>
              <a:t>3. </a:t>
            </a:r>
            <a:r>
              <a:rPr lang="en-US" sz="2000" b="1" i="0" dirty="0">
                <a:solidFill>
                  <a:schemeClr val="accent4"/>
                </a:solidFill>
                <a:effectLst/>
                <a:latin typeface="Sitka Display Semibold" pitchFamily="2" charset="0"/>
              </a:rPr>
              <a:t>Feature Selection:-</a:t>
            </a:r>
            <a:r>
              <a:rPr lang="en-US" sz="2000" b="0" i="0" dirty="0">
                <a:solidFill>
                  <a:schemeClr val="bg1"/>
                </a:solidFill>
                <a:effectLst/>
                <a:latin typeface="Sitka Display Semibold" pitchFamily="2" charset="0"/>
              </a:rPr>
              <a:t>Apply feature selection techniques to identify the most relevant and informative features that contribute significantly to accurate classification. Model Development:-Implement four classification models: KNN (k-Nearest Neighbors), SVM (Support Vector Machine), Decision Tree, and Random Forest.</a:t>
            </a:r>
          </a:p>
          <a:p>
            <a:pPr algn="l"/>
            <a:r>
              <a:rPr lang="en-US" sz="2000" b="1" i="0" dirty="0">
                <a:solidFill>
                  <a:schemeClr val="accent4"/>
                </a:solidFill>
                <a:effectLst/>
                <a:latin typeface="Sitka Display Semibold" pitchFamily="2" charset="0"/>
              </a:rPr>
              <a:t>4. Model Evaluation:</a:t>
            </a:r>
          </a:p>
          <a:p>
            <a:pPr marL="742950" lvl="1" indent="-285750" algn="l">
              <a:buFont typeface="Arial" panose="020B0604020202020204" pitchFamily="34" charset="0"/>
              <a:buChar char="•"/>
            </a:pPr>
            <a:r>
              <a:rPr lang="en-US" sz="2000" b="0" i="0" dirty="0">
                <a:solidFill>
                  <a:schemeClr val="bg1"/>
                </a:solidFill>
                <a:effectLst/>
                <a:latin typeface="Sitka Display Semibold" pitchFamily="2" charset="0"/>
              </a:rPr>
              <a:t>Divide the preprocessed data into training and testing sets.</a:t>
            </a:r>
          </a:p>
          <a:p>
            <a:pPr marL="742950" lvl="1" indent="-285750" algn="l">
              <a:buFont typeface="Arial" panose="020B0604020202020204" pitchFamily="34" charset="0"/>
              <a:buChar char="•"/>
            </a:pPr>
            <a:r>
              <a:rPr lang="en-US" sz="2000" b="0" i="0" dirty="0">
                <a:solidFill>
                  <a:schemeClr val="bg1"/>
                </a:solidFill>
                <a:effectLst/>
                <a:latin typeface="Sitka Display Semibold" pitchFamily="2" charset="0"/>
              </a:rPr>
              <a:t>Train each classification model on the training set, allowing it to learn the patterns and relationships between features and target classes (genuine or counterfeit).</a:t>
            </a:r>
          </a:p>
          <a:p>
            <a:pPr marL="742950" lvl="1" indent="-285750" algn="l">
              <a:buFont typeface="Arial" panose="020B0604020202020204" pitchFamily="34" charset="0"/>
              <a:buChar char="•"/>
            </a:pPr>
            <a:r>
              <a:rPr lang="en-US" sz="2000" b="0" i="0" dirty="0">
                <a:solidFill>
                  <a:schemeClr val="bg1"/>
                </a:solidFill>
                <a:effectLst/>
                <a:latin typeface="Sitka Display Semibold" pitchFamily="2" charset="0"/>
              </a:rPr>
              <a:t>Evaluate the performance of each model on the independent testing set.</a:t>
            </a:r>
          </a:p>
          <a:p>
            <a:pPr marL="742950" lvl="1" indent="-285750" algn="l">
              <a:buFont typeface="Arial" panose="020B0604020202020204" pitchFamily="34" charset="0"/>
              <a:buChar char="•"/>
            </a:pPr>
            <a:r>
              <a:rPr lang="en-US" sz="2000" b="0" i="0" dirty="0">
                <a:solidFill>
                  <a:schemeClr val="bg1"/>
                </a:solidFill>
                <a:effectLst/>
                <a:latin typeface="Sitka Display Semibold" pitchFamily="2" charset="0"/>
              </a:rPr>
              <a:t>Calculate performance metrics such as accuracy, sensitivity, specificity, and precision to assess the ability of each model to correctly classify genuine and counterfeit banknotes.</a:t>
            </a:r>
          </a:p>
          <a:p>
            <a:pPr marL="8890" marR="1125855" indent="-6350" algn="just">
              <a:lnSpc>
                <a:spcPct val="150000"/>
              </a:lnSpc>
              <a:spcBef>
                <a:spcPts val="0"/>
              </a:spcBef>
              <a:spcAft>
                <a:spcPts val="1555"/>
              </a:spcAft>
            </a:pPr>
            <a:endParaRPr lang="en-US" sz="2000" b="0" i="0" dirty="0">
              <a:solidFill>
                <a:schemeClr val="bg1"/>
              </a:solidFill>
              <a:effectLst/>
              <a:latin typeface="Google Sans"/>
            </a:endParaRPr>
          </a:p>
        </p:txBody>
      </p:sp>
    </p:spTree>
    <p:extLst>
      <p:ext uri="{BB962C8B-B14F-4D97-AF65-F5344CB8AC3E}">
        <p14:creationId xmlns:p14="http://schemas.microsoft.com/office/powerpoint/2010/main" val="1052523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42529"/>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02191" y="439152"/>
            <a:ext cx="12618246" cy="703847"/>
          </a:xfrm>
          <a:prstGeom prst="rect">
            <a:avLst/>
          </a:prstGeom>
          <a:noFill/>
          <a:ln/>
        </p:spPr>
        <p:txBody>
          <a:bodyPr wrap="none" rtlCol="0" anchor="t"/>
          <a:lstStyle/>
          <a:p>
            <a:pPr algn="ctr"/>
            <a:r>
              <a:rPr lang="en-US" u="sng" dirty="0">
                <a:solidFill>
                  <a:srgbClr val="FFC000"/>
                </a:solidFill>
              </a:rPr>
              <a:t>RESEARCH DESIGN AND RESEARCH METHOD </a:t>
            </a:r>
          </a:p>
          <a:p>
            <a:pPr algn="ctr"/>
            <a:r>
              <a:rPr lang="en-US" u="sng" dirty="0">
                <a:solidFill>
                  <a:srgbClr val="FFC000"/>
                </a:solidFill>
              </a:rPr>
              <a:t>SYSTEM DEVELOPMENT METHODOLOGY</a:t>
            </a:r>
          </a:p>
          <a:p>
            <a:pPr algn="ctr"/>
            <a:endParaRPr lang="en-US" b="1" dirty="0">
              <a:solidFill>
                <a:schemeClr val="bg1"/>
              </a:solidFill>
            </a:endParaRPr>
          </a:p>
        </p:txBody>
      </p:sp>
      <p:sp>
        <p:nvSpPr>
          <p:cNvPr id="6" name="Text 2"/>
          <p:cNvSpPr/>
          <p:nvPr/>
        </p:nvSpPr>
        <p:spPr>
          <a:xfrm>
            <a:off x="300789" y="1142999"/>
            <a:ext cx="14082963" cy="6762308"/>
          </a:xfrm>
          <a:prstGeom prst="rect">
            <a:avLst/>
          </a:prstGeom>
          <a:noFill/>
          <a:ln/>
        </p:spPr>
        <p:txBody>
          <a:bodyPr wrap="square" rtlCol="0" anchor="t"/>
          <a:lstStyle/>
          <a:p>
            <a:pPr marL="342900" indent="-342900" algn="l">
              <a:buFont typeface="Arial" panose="020B0604020202020204" pitchFamily="34" charset="0"/>
              <a:buChar char="•"/>
            </a:pPr>
            <a:r>
              <a:rPr lang="en-US" sz="2400" b="1" i="0" dirty="0">
                <a:solidFill>
                  <a:schemeClr val="accent2"/>
                </a:solidFill>
                <a:effectLst/>
                <a:latin typeface="Google Sans"/>
              </a:rPr>
              <a:t>Rapid Application Development (RAD) </a:t>
            </a:r>
            <a:r>
              <a:rPr lang="en-US" sz="2400" b="1" i="0" dirty="0">
                <a:solidFill>
                  <a:schemeClr val="bg1"/>
                </a:solidFill>
                <a:effectLst/>
                <a:latin typeface="Google Sans"/>
              </a:rPr>
              <a:t>is </a:t>
            </a:r>
            <a:r>
              <a:rPr lang="en-US" sz="2400" b="0" i="0" dirty="0">
                <a:solidFill>
                  <a:schemeClr val="bg1"/>
                </a:solidFill>
                <a:effectLst/>
                <a:latin typeface="Google Sans"/>
              </a:rPr>
              <a:t>a structured approach to software development that emphasizes iterative development, user involvement, and rapid feedback. It is a highly effective methodology for projects that require quick delivery and adaptability to changing requirements.</a:t>
            </a:r>
          </a:p>
          <a:p>
            <a:pPr algn="l"/>
            <a:r>
              <a:rPr lang="en-US" sz="2400" b="1" i="0" u="sng" dirty="0">
                <a:solidFill>
                  <a:schemeClr val="accent4"/>
                </a:solidFill>
                <a:effectLst/>
                <a:latin typeface="Google Sans"/>
              </a:rPr>
              <a:t>Key Characteristics of RAD</a:t>
            </a:r>
          </a:p>
          <a:p>
            <a:pPr algn="l">
              <a:buFont typeface="Arial" panose="020B0604020202020204" pitchFamily="34" charset="0"/>
              <a:buChar char="•"/>
            </a:pPr>
            <a:r>
              <a:rPr lang="en-US" sz="2400" b="1" i="0" dirty="0">
                <a:solidFill>
                  <a:schemeClr val="accent4"/>
                </a:solidFill>
                <a:effectLst/>
                <a:latin typeface="Google Sans"/>
              </a:rPr>
              <a:t>Prototyping</a:t>
            </a:r>
            <a:r>
              <a:rPr lang="en-US" sz="2400" b="1" i="0" dirty="0">
                <a:solidFill>
                  <a:schemeClr val="bg1"/>
                </a:solidFill>
                <a:effectLst/>
                <a:latin typeface="Google Sans"/>
              </a:rPr>
              <a:t>: </a:t>
            </a:r>
            <a:r>
              <a:rPr lang="en-US" sz="2400" b="0" i="0" dirty="0">
                <a:solidFill>
                  <a:schemeClr val="bg1"/>
                </a:solidFill>
                <a:effectLst/>
                <a:latin typeface="Google Sans"/>
              </a:rPr>
              <a:t>RAD places a strong emphasis on prototyping, creating early and frequent versions of the system to gather user feedback and refine the design.</a:t>
            </a:r>
          </a:p>
          <a:p>
            <a:pPr algn="l">
              <a:buFont typeface="Arial" panose="020B0604020202020204" pitchFamily="34" charset="0"/>
              <a:buChar char="•"/>
            </a:pPr>
            <a:r>
              <a:rPr lang="en-US" sz="2400" b="1" i="0" dirty="0">
                <a:solidFill>
                  <a:schemeClr val="accent4"/>
                </a:solidFill>
                <a:effectLst/>
                <a:latin typeface="Google Sans"/>
              </a:rPr>
              <a:t>User Involvement: </a:t>
            </a:r>
            <a:r>
              <a:rPr lang="en-US" sz="2400" b="0" i="0" dirty="0">
                <a:solidFill>
                  <a:schemeClr val="bg1"/>
                </a:solidFill>
                <a:effectLst/>
                <a:latin typeface="Google Sans"/>
              </a:rPr>
              <a:t>Users are actively involved throughout the development process, providing feedback on prototypes, requirements, and usability.</a:t>
            </a:r>
          </a:p>
          <a:p>
            <a:pPr algn="l">
              <a:buFont typeface="Arial" panose="020B0604020202020204" pitchFamily="34" charset="0"/>
              <a:buChar char="•"/>
            </a:pPr>
            <a:r>
              <a:rPr lang="en-US" sz="2400" b="1" i="0" dirty="0">
                <a:solidFill>
                  <a:schemeClr val="accent4"/>
                </a:solidFill>
                <a:effectLst/>
                <a:latin typeface="Google Sans"/>
              </a:rPr>
              <a:t>Iteration</a:t>
            </a:r>
            <a:r>
              <a:rPr lang="en-US" sz="2400" b="0" i="0" dirty="0">
                <a:solidFill>
                  <a:schemeClr val="bg1"/>
                </a:solidFill>
                <a:effectLst/>
                <a:latin typeface="Google Sans"/>
              </a:rPr>
              <a:t>: The development process is iterative, with each iteration building upon the previous one. This allows for continuous improvement and adaptation to feedback.</a:t>
            </a:r>
          </a:p>
          <a:p>
            <a:pPr algn="l">
              <a:buFont typeface="Arial" panose="020B0604020202020204" pitchFamily="34" charset="0"/>
              <a:buChar char="•"/>
            </a:pPr>
            <a:r>
              <a:rPr lang="en-US" sz="2400" b="1" i="0" dirty="0">
                <a:solidFill>
                  <a:schemeClr val="accent4"/>
                </a:solidFill>
                <a:effectLst/>
                <a:latin typeface="Google Sans"/>
              </a:rPr>
              <a:t>Rapid Feedback</a:t>
            </a:r>
            <a:r>
              <a:rPr lang="en-US" sz="2400" b="1" i="0" dirty="0">
                <a:solidFill>
                  <a:schemeClr val="bg1"/>
                </a:solidFill>
                <a:effectLst/>
                <a:latin typeface="Google Sans"/>
              </a:rPr>
              <a:t>: </a:t>
            </a:r>
            <a:r>
              <a:rPr lang="en-US" sz="2400" b="0" i="0" dirty="0">
                <a:solidFill>
                  <a:schemeClr val="bg1"/>
                </a:solidFill>
                <a:effectLst/>
                <a:latin typeface="Google Sans"/>
              </a:rPr>
              <a:t>Users and stakeholders provide feedback throughout the development process, ensuring that the system meets their needs and expectations.</a:t>
            </a:r>
          </a:p>
          <a:p>
            <a:pPr marL="8890" marR="1125855" indent="-6350" algn="just">
              <a:lnSpc>
                <a:spcPct val="150000"/>
              </a:lnSpc>
              <a:spcBef>
                <a:spcPts val="0"/>
              </a:spcBef>
              <a:spcAft>
                <a:spcPts val="1555"/>
              </a:spcAft>
            </a:pPr>
            <a:endParaRPr lang="en-US" sz="1600" b="0" i="0" dirty="0">
              <a:solidFill>
                <a:schemeClr val="bg1"/>
              </a:solidFill>
              <a:effectLst/>
              <a:latin typeface="Google Sans"/>
            </a:endParaRPr>
          </a:p>
        </p:txBody>
      </p:sp>
    </p:spTree>
    <p:extLst>
      <p:ext uri="{BB962C8B-B14F-4D97-AF65-F5344CB8AC3E}">
        <p14:creationId xmlns:p14="http://schemas.microsoft.com/office/powerpoint/2010/main" val="2443099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02190" y="439152"/>
            <a:ext cx="12822784" cy="948397"/>
          </a:xfrm>
          <a:prstGeom prst="rect">
            <a:avLst/>
          </a:prstGeom>
          <a:noFill/>
          <a:ln/>
        </p:spPr>
        <p:txBody>
          <a:bodyPr wrap="none" rtlCol="0" anchor="t"/>
          <a:lstStyle/>
          <a:p>
            <a:pPr algn="ctr"/>
            <a:r>
              <a:rPr lang="en-US" b="1" u="sng" dirty="0">
                <a:solidFill>
                  <a:srgbClr val="FFC000"/>
                </a:solidFill>
              </a:rPr>
              <a:t>RAPID APPLICATION DEVELOPMENT PHASES </a:t>
            </a:r>
          </a:p>
        </p:txBody>
      </p:sp>
      <p:sp>
        <p:nvSpPr>
          <p:cNvPr id="6" name="Text 2"/>
          <p:cNvSpPr/>
          <p:nvPr/>
        </p:nvSpPr>
        <p:spPr>
          <a:xfrm>
            <a:off x="279401" y="920750"/>
            <a:ext cx="13683246" cy="6677192"/>
          </a:xfrm>
          <a:prstGeom prst="rect">
            <a:avLst/>
          </a:prstGeom>
          <a:noFill/>
          <a:ln/>
        </p:spPr>
        <p:txBody>
          <a:bodyPr wrap="square" rtlCol="0" anchor="t"/>
          <a:lstStyle/>
          <a:p>
            <a:pPr marL="457200" indent="-457200" algn="l">
              <a:buFont typeface="+mj-lt"/>
              <a:buAutoNum type="arabicPeriod"/>
            </a:pPr>
            <a:r>
              <a:rPr lang="en-US" sz="2400" b="1" i="0" dirty="0">
                <a:solidFill>
                  <a:schemeClr val="accent2">
                    <a:lumMod val="75000"/>
                  </a:schemeClr>
                </a:solidFill>
                <a:effectLst/>
                <a:latin typeface="Google Sans"/>
              </a:rPr>
              <a:t>Planning and Analysis</a:t>
            </a:r>
            <a:r>
              <a:rPr lang="en-US" sz="2400" b="0" i="0" dirty="0">
                <a:solidFill>
                  <a:schemeClr val="bg1"/>
                </a:solidFill>
                <a:effectLst/>
                <a:latin typeface="Google Sans"/>
              </a:rPr>
              <a:t>: Define the project scope, identify key requirements, and establish a high-level design.</a:t>
            </a:r>
          </a:p>
          <a:p>
            <a:pPr algn="l">
              <a:buFont typeface="+mj-lt"/>
              <a:buAutoNum type="arabicPeriod"/>
            </a:pPr>
            <a:r>
              <a:rPr lang="en-US" sz="2400" b="1" i="0" dirty="0">
                <a:solidFill>
                  <a:schemeClr val="accent2">
                    <a:lumMod val="75000"/>
                  </a:schemeClr>
                </a:solidFill>
                <a:effectLst/>
                <a:latin typeface="Google Sans"/>
              </a:rPr>
              <a:t>Prototyping</a:t>
            </a:r>
            <a:r>
              <a:rPr lang="en-US" sz="2400" b="0" i="0" dirty="0">
                <a:solidFill>
                  <a:schemeClr val="bg1"/>
                </a:solidFill>
                <a:effectLst/>
                <a:latin typeface="Google Sans"/>
              </a:rPr>
              <a:t>: Create an initial prototype of the system to gather user feedback and refine the design.</a:t>
            </a:r>
          </a:p>
          <a:p>
            <a:pPr algn="l">
              <a:buFont typeface="+mj-lt"/>
              <a:buAutoNum type="arabicPeriod"/>
            </a:pPr>
            <a:r>
              <a:rPr lang="en-US" sz="2400" b="1" i="0" dirty="0">
                <a:solidFill>
                  <a:schemeClr val="accent2">
                    <a:lumMod val="75000"/>
                  </a:schemeClr>
                </a:solidFill>
                <a:effectLst/>
                <a:latin typeface="Google Sans"/>
              </a:rPr>
              <a:t>Design</a:t>
            </a:r>
            <a:r>
              <a:rPr lang="en-US" sz="2400" b="1" i="0" dirty="0">
                <a:solidFill>
                  <a:schemeClr val="bg1"/>
                </a:solidFill>
                <a:effectLst/>
                <a:latin typeface="Google Sans"/>
              </a:rPr>
              <a:t>: </a:t>
            </a:r>
            <a:r>
              <a:rPr lang="en-US" sz="2400" b="0" i="0" dirty="0">
                <a:solidFill>
                  <a:schemeClr val="bg1"/>
                </a:solidFill>
                <a:effectLst/>
                <a:latin typeface="Google Sans"/>
              </a:rPr>
              <a:t>Based on user feedback, refine the system design and create detailed specifications.</a:t>
            </a:r>
          </a:p>
          <a:p>
            <a:pPr algn="l">
              <a:buFont typeface="+mj-lt"/>
              <a:buAutoNum type="arabicPeriod"/>
            </a:pPr>
            <a:r>
              <a:rPr lang="en-US" sz="2400" b="1" i="0" dirty="0">
                <a:solidFill>
                  <a:schemeClr val="accent2">
                    <a:lumMod val="75000"/>
                  </a:schemeClr>
                </a:solidFill>
                <a:effectLst/>
                <a:latin typeface="Google Sans"/>
              </a:rPr>
              <a:t>Construction</a:t>
            </a:r>
            <a:r>
              <a:rPr lang="en-US" sz="2400" b="0" i="0" dirty="0">
                <a:solidFill>
                  <a:schemeClr val="bg1"/>
                </a:solidFill>
                <a:effectLst/>
                <a:latin typeface="Google Sans"/>
              </a:rPr>
              <a:t>: Develop the system components, including programming, database design, and user interface design.</a:t>
            </a:r>
          </a:p>
          <a:p>
            <a:pPr algn="l">
              <a:buFont typeface="+mj-lt"/>
              <a:buAutoNum type="arabicPeriod"/>
            </a:pPr>
            <a:r>
              <a:rPr lang="en-US" sz="2400" b="1" i="0" dirty="0">
                <a:solidFill>
                  <a:schemeClr val="accent2">
                    <a:lumMod val="75000"/>
                  </a:schemeClr>
                </a:solidFill>
                <a:effectLst/>
                <a:latin typeface="Google Sans"/>
              </a:rPr>
              <a:t>Testing and Evaluation: </a:t>
            </a:r>
            <a:r>
              <a:rPr lang="en-US" sz="2400" b="0" i="0" dirty="0">
                <a:solidFill>
                  <a:schemeClr val="bg1"/>
                </a:solidFill>
                <a:effectLst/>
                <a:latin typeface="Google Sans"/>
              </a:rPr>
              <a:t>Conduct thorough testing to ensure the system meets the requirements and functions correctly.</a:t>
            </a:r>
          </a:p>
          <a:p>
            <a:pPr algn="l">
              <a:buFont typeface="+mj-lt"/>
              <a:buAutoNum type="arabicPeriod"/>
            </a:pPr>
            <a:r>
              <a:rPr lang="en-US" sz="2400" b="0" i="0" dirty="0">
                <a:solidFill>
                  <a:schemeClr val="accent2">
                    <a:lumMod val="75000"/>
                  </a:schemeClr>
                </a:solidFill>
                <a:effectLst/>
                <a:latin typeface="Google Sans"/>
              </a:rPr>
              <a:t>Deployment: </a:t>
            </a:r>
            <a:r>
              <a:rPr lang="en-US" sz="2400" b="0" i="0" dirty="0">
                <a:solidFill>
                  <a:schemeClr val="bg1"/>
                </a:solidFill>
                <a:effectLst/>
                <a:latin typeface="Google Sans"/>
              </a:rPr>
              <a:t>Deploy the system to production and provide ongoing maintenance and support.</a:t>
            </a:r>
          </a:p>
          <a:p>
            <a:pPr algn="l"/>
            <a:endParaRPr lang="en-US" sz="2400" b="0" i="0" dirty="0">
              <a:solidFill>
                <a:schemeClr val="bg1"/>
              </a:solidFill>
              <a:effectLst/>
              <a:latin typeface="Google Sans"/>
            </a:endParaRPr>
          </a:p>
          <a:p>
            <a:pPr algn="l"/>
            <a:endParaRPr lang="en-US" sz="1600" b="0" i="0" dirty="0">
              <a:solidFill>
                <a:schemeClr val="bg1"/>
              </a:solidFill>
              <a:effectLst/>
              <a:latin typeface="Google Sans"/>
            </a:endParaRPr>
          </a:p>
        </p:txBody>
      </p:sp>
      <p:pic>
        <p:nvPicPr>
          <p:cNvPr id="7" name="Picture 6" descr="Rapid Application Development: Advantages and Disadvantages – NIX United">
            <a:extLst>
              <a:ext uri="{FF2B5EF4-FFF2-40B4-BE49-F238E27FC236}">
                <a16:creationId xmlns:a16="http://schemas.microsoft.com/office/drawing/2014/main" id="{BA8AAA0B-0BF2-0BA4-6143-94D87CD810B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13367" y="4538240"/>
            <a:ext cx="6806565" cy="3127375"/>
          </a:xfrm>
          <a:prstGeom prst="rect">
            <a:avLst/>
          </a:prstGeom>
          <a:noFill/>
          <a:ln>
            <a:noFill/>
          </a:ln>
        </p:spPr>
      </p:pic>
    </p:spTree>
    <p:extLst>
      <p:ext uri="{BB962C8B-B14F-4D97-AF65-F5344CB8AC3E}">
        <p14:creationId xmlns:p14="http://schemas.microsoft.com/office/powerpoint/2010/main" val="1416776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02190" y="165100"/>
            <a:ext cx="12612231" cy="1222449"/>
          </a:xfrm>
          <a:prstGeom prst="rect">
            <a:avLst/>
          </a:prstGeom>
          <a:noFill/>
          <a:ln/>
        </p:spPr>
        <p:txBody>
          <a:bodyPr wrap="none" rtlCol="0" anchor="t"/>
          <a:lstStyle/>
          <a:p>
            <a:pPr algn="ctr"/>
            <a:r>
              <a:rPr lang="en-US" b="1" u="sng" dirty="0">
                <a:solidFill>
                  <a:srgbClr val="FFC000"/>
                </a:solidFill>
              </a:rPr>
              <a:t>Data Collection</a:t>
            </a:r>
            <a:endParaRPr lang="en-US" u="sng" dirty="0">
              <a:solidFill>
                <a:srgbClr val="FFC000"/>
              </a:solidFill>
            </a:endParaRPr>
          </a:p>
          <a:p>
            <a:pPr algn="ctr"/>
            <a:endParaRPr lang="en-US" b="1" dirty="0">
              <a:solidFill>
                <a:schemeClr val="bg1"/>
              </a:solidFill>
            </a:endParaRPr>
          </a:p>
        </p:txBody>
      </p:sp>
      <p:sp>
        <p:nvSpPr>
          <p:cNvPr id="6" name="Text 2"/>
          <p:cNvSpPr/>
          <p:nvPr/>
        </p:nvSpPr>
        <p:spPr>
          <a:xfrm>
            <a:off x="361950" y="711200"/>
            <a:ext cx="13871408" cy="6886742"/>
          </a:xfrm>
          <a:prstGeom prst="rect">
            <a:avLst/>
          </a:prstGeom>
          <a:noFill/>
          <a:ln/>
        </p:spPr>
        <p:txBody>
          <a:bodyPr wrap="square" rtlCol="0" anchor="t"/>
          <a:lstStyle/>
          <a:p>
            <a:pPr algn="l"/>
            <a:r>
              <a:rPr lang="en-US" sz="2000" b="0" i="0" dirty="0">
                <a:solidFill>
                  <a:schemeClr val="bg1"/>
                </a:solidFill>
                <a:effectLst/>
                <a:latin typeface="Google Sans"/>
              </a:rPr>
              <a:t>The data collection </a:t>
            </a:r>
            <a:r>
              <a:rPr lang="en-US" sz="2000" dirty="0">
                <a:solidFill>
                  <a:schemeClr val="bg1"/>
                </a:solidFill>
                <a:latin typeface="Google Sans"/>
              </a:rPr>
              <a:t>method used in the following project is web scrapping:</a:t>
            </a:r>
            <a:endParaRPr lang="en-US" sz="2000" b="0" i="0" dirty="0">
              <a:solidFill>
                <a:schemeClr val="bg1"/>
              </a:solidFill>
              <a:effectLst/>
              <a:latin typeface="Google Sans"/>
            </a:endParaRPr>
          </a:p>
          <a:p>
            <a:pPr algn="l"/>
            <a:r>
              <a:rPr lang="en-US" sz="2000" b="0" i="0" dirty="0">
                <a:solidFill>
                  <a:schemeClr val="accent2">
                    <a:lumMod val="75000"/>
                  </a:schemeClr>
                </a:solidFill>
                <a:effectLst/>
                <a:latin typeface="Google Sans"/>
              </a:rPr>
              <a:t>Web scraping </a:t>
            </a:r>
            <a:r>
              <a:rPr lang="en-US" sz="2000" b="0" i="0" dirty="0">
                <a:solidFill>
                  <a:srgbClr val="D4D1CB"/>
                </a:solidFill>
                <a:effectLst/>
                <a:latin typeface="Google Sans"/>
              </a:rPr>
              <a:t>is a technique for extracting data from websites. It is a powerful tool for collecting large amounts of data, including images of banknotes, for use in image-based banknote authentication projects.</a:t>
            </a:r>
          </a:p>
          <a:p>
            <a:pPr algn="l"/>
            <a:r>
              <a:rPr lang="en-US" sz="2000" b="0" i="0" dirty="0">
                <a:solidFill>
                  <a:srgbClr val="FFFF00"/>
                </a:solidFill>
                <a:effectLst/>
                <a:latin typeface="Google Sans"/>
              </a:rPr>
              <a:t>Advantages of Web Scraping</a:t>
            </a:r>
          </a:p>
          <a:p>
            <a:pPr algn="l"/>
            <a:r>
              <a:rPr lang="en-US" sz="2000" b="0" i="0" dirty="0">
                <a:solidFill>
                  <a:srgbClr val="D4D1CB"/>
                </a:solidFill>
                <a:effectLst/>
                <a:latin typeface="Google Sans"/>
              </a:rPr>
              <a:t>There are several advantages to using web scraping for banknote authentication projects:</a:t>
            </a:r>
          </a:p>
          <a:p>
            <a:pPr algn="l">
              <a:buFont typeface="Arial" panose="020B0604020202020204" pitchFamily="34" charset="0"/>
              <a:buChar char="•"/>
            </a:pPr>
            <a:r>
              <a:rPr lang="en-US" sz="2000" b="1" i="0" dirty="0">
                <a:solidFill>
                  <a:schemeClr val="accent2">
                    <a:lumMod val="75000"/>
                  </a:schemeClr>
                </a:solidFill>
                <a:effectLst/>
                <a:latin typeface="Google Sans"/>
              </a:rPr>
              <a:t>Large Data Volume: </a:t>
            </a:r>
            <a:r>
              <a:rPr lang="en-US" sz="2000" b="0" i="0" dirty="0">
                <a:solidFill>
                  <a:srgbClr val="D4D1CB"/>
                </a:solidFill>
                <a:effectLst/>
                <a:latin typeface="Google Sans"/>
              </a:rPr>
              <a:t>Web scraping can be used to collect a large number of images of banknotes from various sources, which can be beneficial for training and evaluating machine learning models.</a:t>
            </a:r>
          </a:p>
          <a:p>
            <a:pPr algn="l">
              <a:buFont typeface="Arial" panose="020B0604020202020204" pitchFamily="34" charset="0"/>
              <a:buChar char="•"/>
            </a:pPr>
            <a:r>
              <a:rPr lang="en-US" sz="2000" b="0" i="0" dirty="0">
                <a:solidFill>
                  <a:srgbClr val="D4D1CB"/>
                </a:solidFill>
                <a:effectLst/>
                <a:latin typeface="Google Sans"/>
              </a:rPr>
              <a:t>Accessibility and Cost-Effectiveness: Web scraping allows for the collection of data without requiring physical access to banknotes, making it a cost-effective and accessible method.</a:t>
            </a:r>
          </a:p>
          <a:p>
            <a:pPr algn="l">
              <a:buFont typeface="Arial" panose="020B0604020202020204" pitchFamily="34" charset="0"/>
              <a:buChar char="•"/>
            </a:pPr>
            <a:r>
              <a:rPr lang="en-US" sz="2000" b="0" i="0" dirty="0">
                <a:solidFill>
                  <a:schemeClr val="accent2">
                    <a:lumMod val="50000"/>
                  </a:schemeClr>
                </a:solidFill>
                <a:effectLst/>
                <a:latin typeface="Google Sans"/>
              </a:rPr>
              <a:t>Diverse Data Sources</a:t>
            </a:r>
            <a:r>
              <a:rPr lang="en-US" sz="2000" b="0" i="0" dirty="0">
                <a:solidFill>
                  <a:srgbClr val="D4D1CB"/>
                </a:solidFill>
                <a:effectLst/>
                <a:latin typeface="Google Sans"/>
              </a:rPr>
              <a:t>: Web scraping can be used to gather data from a wide range of websites, including e-commerce platforms, central bank websites, and image repositories, providing a diverse dataset.</a:t>
            </a:r>
          </a:p>
          <a:p>
            <a:pPr algn="l"/>
            <a:r>
              <a:rPr lang="en-US" sz="2000" b="0" i="0" dirty="0">
                <a:solidFill>
                  <a:srgbClr val="D4D1CB"/>
                </a:solidFill>
                <a:effectLst/>
                <a:latin typeface="Google Sans"/>
              </a:rPr>
              <a:t>Web Scraping Process</a:t>
            </a:r>
          </a:p>
          <a:p>
            <a:pPr algn="l"/>
            <a:r>
              <a:rPr lang="en-US" sz="2000" b="0" i="0" dirty="0">
                <a:solidFill>
                  <a:srgbClr val="FFFF00"/>
                </a:solidFill>
                <a:effectLst/>
                <a:latin typeface="Google Sans"/>
              </a:rPr>
              <a:t>The web scraping process typically involves the following steps:</a:t>
            </a:r>
          </a:p>
          <a:p>
            <a:pPr algn="l">
              <a:buFont typeface="+mj-lt"/>
              <a:buAutoNum type="arabicPeriod"/>
            </a:pPr>
            <a:r>
              <a:rPr lang="en-US" sz="2000" b="0" i="0" dirty="0">
                <a:solidFill>
                  <a:schemeClr val="accent2">
                    <a:lumMod val="50000"/>
                  </a:schemeClr>
                </a:solidFill>
                <a:effectLst/>
                <a:latin typeface="Google Sans"/>
              </a:rPr>
              <a:t>Target Website Identification: </a:t>
            </a:r>
            <a:r>
              <a:rPr lang="en-US" sz="2000" b="0" i="0" dirty="0">
                <a:solidFill>
                  <a:srgbClr val="D4D1CB"/>
                </a:solidFill>
                <a:effectLst/>
                <a:latin typeface="Google Sans"/>
              </a:rPr>
              <a:t>Identify the websites that contain relevant images of banknotes. This may involve searching for online retailers, central bank websites, or image repositories.</a:t>
            </a:r>
          </a:p>
          <a:p>
            <a:pPr algn="l">
              <a:buFont typeface="+mj-lt"/>
              <a:buAutoNum type="arabicPeriod"/>
            </a:pPr>
            <a:r>
              <a:rPr lang="en-US" sz="2000" b="0" i="0" dirty="0">
                <a:solidFill>
                  <a:schemeClr val="accent2">
                    <a:lumMod val="50000"/>
                  </a:schemeClr>
                </a:solidFill>
                <a:effectLst/>
                <a:latin typeface="Google Sans"/>
              </a:rPr>
              <a:t>HTML Parsing: </a:t>
            </a:r>
            <a:r>
              <a:rPr lang="en-US" sz="2000" b="0" i="0" dirty="0">
                <a:solidFill>
                  <a:srgbClr val="D4D1CB"/>
                </a:solidFill>
                <a:effectLst/>
                <a:latin typeface="Google Sans"/>
              </a:rPr>
              <a:t>Utilize an HTML parsing library to extract the HTML content of the target websites. This involves breaking down the website's structure and identifying the elements that contain the desired images.</a:t>
            </a:r>
          </a:p>
          <a:p>
            <a:pPr algn="l">
              <a:buFont typeface="+mj-lt"/>
              <a:buAutoNum type="arabicPeriod"/>
            </a:pPr>
            <a:r>
              <a:rPr lang="en-US" sz="2000" b="0" i="0" dirty="0">
                <a:solidFill>
                  <a:schemeClr val="accent2">
                    <a:lumMod val="50000"/>
                  </a:schemeClr>
                </a:solidFill>
                <a:effectLst/>
                <a:latin typeface="Google Sans"/>
              </a:rPr>
              <a:t>Image Location Identification</a:t>
            </a:r>
            <a:r>
              <a:rPr lang="en-US" sz="2000" b="0" i="0" dirty="0">
                <a:solidFill>
                  <a:srgbClr val="D4D1CB"/>
                </a:solidFill>
                <a:effectLst/>
                <a:latin typeface="Google Sans"/>
              </a:rPr>
              <a:t>: Locate the specific HTML elements that contain the image URLs or the images themselves. This may involve inspecting the website's HTML structure and using XPath or CSS selectors.</a:t>
            </a:r>
          </a:p>
          <a:p>
            <a:pPr algn="l">
              <a:buFont typeface="+mj-lt"/>
              <a:buAutoNum type="arabicPeriod"/>
            </a:pPr>
            <a:r>
              <a:rPr lang="en-US" sz="2000" b="0" i="0" dirty="0">
                <a:solidFill>
                  <a:schemeClr val="accent2">
                    <a:lumMod val="50000"/>
                  </a:schemeClr>
                </a:solidFill>
                <a:effectLst/>
                <a:latin typeface="Google Sans"/>
              </a:rPr>
              <a:t>Image Downloading: </a:t>
            </a:r>
            <a:r>
              <a:rPr lang="en-US" sz="2000" b="0" i="0" dirty="0">
                <a:solidFill>
                  <a:srgbClr val="D4D1CB"/>
                </a:solidFill>
                <a:effectLst/>
                <a:latin typeface="Google Sans"/>
              </a:rPr>
              <a:t>Download the identified images to a local storage location. This may involve using libraries like requests or Beautiful Soup to download the images directly from the URLs.</a:t>
            </a:r>
          </a:p>
          <a:p>
            <a:pPr algn="l">
              <a:buFont typeface="+mj-lt"/>
              <a:buAutoNum type="arabicPeriod"/>
            </a:pPr>
            <a:r>
              <a:rPr lang="en-US" sz="2000" b="0" i="0" dirty="0">
                <a:solidFill>
                  <a:schemeClr val="accent2">
                    <a:lumMod val="50000"/>
                  </a:schemeClr>
                </a:solidFill>
                <a:effectLst/>
                <a:latin typeface="Google Sans"/>
              </a:rPr>
              <a:t>Data Cleaning and Preprocessing: </a:t>
            </a:r>
            <a:r>
              <a:rPr lang="en-US" sz="2000" b="0" i="0" dirty="0">
                <a:solidFill>
                  <a:srgbClr val="D4D1CB"/>
                </a:solidFill>
                <a:effectLst/>
                <a:latin typeface="Google Sans"/>
              </a:rPr>
              <a:t>Clean and preprocess the downloaded images to ensure consistency and quality. This may involve resizing, normalizing pixel values, and applying image enhancement techniques.</a:t>
            </a:r>
          </a:p>
          <a:p>
            <a:pPr algn="l"/>
            <a:endParaRPr lang="en-US" sz="2000" b="0" i="0" dirty="0">
              <a:solidFill>
                <a:schemeClr val="bg1"/>
              </a:solidFill>
              <a:effectLst/>
              <a:latin typeface="Google Sans"/>
            </a:endParaRPr>
          </a:p>
        </p:txBody>
      </p:sp>
    </p:spTree>
    <p:extLst>
      <p:ext uri="{BB962C8B-B14F-4D97-AF65-F5344CB8AC3E}">
        <p14:creationId xmlns:p14="http://schemas.microsoft.com/office/powerpoint/2010/main" val="3519271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02190" y="439152"/>
            <a:ext cx="13785310" cy="517359"/>
          </a:xfrm>
          <a:prstGeom prst="rect">
            <a:avLst/>
          </a:prstGeom>
          <a:noFill/>
          <a:ln/>
        </p:spPr>
        <p:txBody>
          <a:bodyPr wrap="none" rtlCol="0" anchor="t"/>
          <a:lstStyle/>
          <a:p>
            <a:pPr algn="ctr"/>
            <a:r>
              <a:rPr lang="en-US" sz="1600" b="1" u="sng" dirty="0">
                <a:solidFill>
                  <a:srgbClr val="FFC000"/>
                </a:solidFill>
              </a:rPr>
              <a:t>FEASIBILITY STUDY</a:t>
            </a:r>
            <a:endParaRPr lang="en-US" sz="1600" u="sng" dirty="0">
              <a:solidFill>
                <a:srgbClr val="FFC000"/>
              </a:solidFill>
            </a:endParaRPr>
          </a:p>
          <a:p>
            <a:pPr algn="ctr"/>
            <a:endParaRPr lang="en-US" b="1" dirty="0">
              <a:solidFill>
                <a:schemeClr val="bg1"/>
              </a:solidFill>
            </a:endParaRPr>
          </a:p>
        </p:txBody>
      </p:sp>
      <p:sp>
        <p:nvSpPr>
          <p:cNvPr id="6" name="Text 2"/>
          <p:cNvSpPr/>
          <p:nvPr/>
        </p:nvSpPr>
        <p:spPr>
          <a:xfrm>
            <a:off x="342900" y="818148"/>
            <a:ext cx="14167184" cy="7146758"/>
          </a:xfrm>
          <a:prstGeom prst="rect">
            <a:avLst/>
          </a:prstGeom>
          <a:noFill/>
          <a:ln/>
        </p:spPr>
        <p:txBody>
          <a:bodyPr wrap="square" rtlCol="0" anchor="t"/>
          <a:lstStyle/>
          <a:p>
            <a:pPr algn="l"/>
            <a:r>
              <a:rPr lang="en-US" sz="2000" b="0" i="0" dirty="0">
                <a:solidFill>
                  <a:srgbClr val="D4D1CB"/>
                </a:solidFill>
                <a:effectLst/>
                <a:latin typeface="Google Sans"/>
              </a:rPr>
              <a:t>A feasibility analysis is crucial for determining the practicality of developing and implementing a banknote authentication system. This analysis involves assessing the technical, economic, and operational feasibilities of the proposed system. </a:t>
            </a:r>
          </a:p>
          <a:p>
            <a:pPr marL="342900" indent="-342900" algn="l">
              <a:buFont typeface="Arial" panose="020B0604020202020204" pitchFamily="34" charset="0"/>
              <a:buChar char="•"/>
            </a:pPr>
            <a:r>
              <a:rPr lang="en-US" sz="2000" b="1" i="0" dirty="0">
                <a:solidFill>
                  <a:schemeClr val="accent2"/>
                </a:solidFill>
                <a:effectLst/>
                <a:latin typeface="Google Sans"/>
              </a:rPr>
              <a:t>Technical Feasibility-</a:t>
            </a:r>
            <a:r>
              <a:rPr lang="en-US" sz="2000" b="0" i="0" dirty="0">
                <a:solidFill>
                  <a:srgbClr val="D4D1CB"/>
                </a:solidFill>
                <a:effectLst/>
                <a:latin typeface="Google Sans"/>
              </a:rPr>
              <a:t>Technical feasibility is a critical factor in the development of banknote authentication systems. The complexity of these systems, along with the need for real-time processing, demands the use of advanced technologies such as machine learning, image processing, and high-performance computing. Assessing the availability of these technologies and the expertise required to implement them is essential for determining the technical feasibility of a proposed banknote authentication system.</a:t>
            </a:r>
          </a:p>
          <a:p>
            <a:pPr marL="342900" indent="-342900" algn="l">
              <a:buFont typeface="Arial" panose="020B0604020202020204" pitchFamily="34" charset="0"/>
              <a:buChar char="•"/>
            </a:pPr>
            <a:r>
              <a:rPr lang="en-US" sz="2000" b="0" i="0" dirty="0">
                <a:solidFill>
                  <a:schemeClr val="accent2"/>
                </a:solidFill>
                <a:effectLst/>
                <a:latin typeface="Google Sans"/>
              </a:rPr>
              <a:t>Economic Feasibility-The </a:t>
            </a:r>
            <a:r>
              <a:rPr lang="en-US" sz="2000" b="0" i="0" dirty="0">
                <a:solidFill>
                  <a:srgbClr val="D4D1CB"/>
                </a:solidFill>
                <a:effectLst/>
                <a:latin typeface="Google Sans"/>
              </a:rPr>
              <a:t>economic viability of banknote authentication systems is crucial for their widespread adoption. The costs associated with developing, implementing, and maintaining these systems must be weighed against the potential benefits, such as reduced losses from counterfeiting and increased public trust in the currency. A comprehensive economic analysis is necessary to evaluate the feasibility of different banknote authentication solutions.</a:t>
            </a:r>
          </a:p>
          <a:p>
            <a:pPr marL="342900" indent="-342900" algn="l">
              <a:buFont typeface="Arial" panose="020B0604020202020204" pitchFamily="34" charset="0"/>
              <a:buChar char="•"/>
            </a:pPr>
            <a:r>
              <a:rPr lang="en-US" sz="2000" b="0" i="0" dirty="0">
                <a:solidFill>
                  <a:schemeClr val="accent2"/>
                </a:solidFill>
                <a:effectLst/>
                <a:latin typeface="Google Sans"/>
              </a:rPr>
              <a:t>Legal Feasibility</a:t>
            </a:r>
            <a:r>
              <a:rPr lang="en-US" sz="2000" b="0" i="0" dirty="0">
                <a:solidFill>
                  <a:srgbClr val="D4D1CB"/>
                </a:solidFill>
                <a:effectLst/>
                <a:latin typeface="Google Sans"/>
              </a:rPr>
              <a:t>-Legal feasibility ensures that banknote authentication systems comply with all applicable laws and regulations. This includes international standards for currency authentication, data privacy laws, and intellectual property rights. Failure to adhere to legal requirements could result in significant legal challenges and hinder the adoption of the system.</a:t>
            </a:r>
          </a:p>
          <a:p>
            <a:pPr marL="342900" indent="-342900" algn="l">
              <a:buFont typeface="Arial" panose="020B0604020202020204" pitchFamily="34" charset="0"/>
              <a:buChar char="•"/>
            </a:pPr>
            <a:r>
              <a:rPr lang="en-US" sz="2000" b="0" i="0" dirty="0">
                <a:solidFill>
                  <a:schemeClr val="accent2"/>
                </a:solidFill>
                <a:effectLst/>
                <a:latin typeface="Google Sans"/>
              </a:rPr>
              <a:t>Operational Feasibility-</a:t>
            </a:r>
            <a:r>
              <a:rPr lang="en-US" sz="2000" b="0" i="0" dirty="0">
                <a:solidFill>
                  <a:srgbClr val="D4D1CB"/>
                </a:solidFill>
                <a:effectLst/>
                <a:latin typeface="Google Sans"/>
              </a:rPr>
              <a:t>Operational feasibility assesses whether a banknote authentication system can be integrated into existing cash handling processes without causing disruptions or compromising efficiency. This involves evaluating the compatibility of the system with existing hardware and software, the training requirements for personnel, and the potential impact on workflow and security procedures.</a:t>
            </a:r>
          </a:p>
          <a:p>
            <a:pPr marL="342900" indent="-342900" algn="l">
              <a:buFont typeface="Arial" panose="020B0604020202020204" pitchFamily="34" charset="0"/>
              <a:buChar char="•"/>
            </a:pPr>
            <a:r>
              <a:rPr lang="en-US" sz="2000" b="0" i="0" dirty="0">
                <a:solidFill>
                  <a:schemeClr val="accent2"/>
                </a:solidFill>
                <a:effectLst/>
                <a:latin typeface="Google Sans"/>
              </a:rPr>
              <a:t>Scheduling Feasibility</a:t>
            </a:r>
            <a:r>
              <a:rPr lang="en-US" sz="2000" b="0" i="0" dirty="0">
                <a:solidFill>
                  <a:srgbClr val="D4D1CB"/>
                </a:solidFill>
                <a:effectLst/>
                <a:latin typeface="Google Sans"/>
              </a:rPr>
              <a:t>-Scheduling feasibility is particularly important for banknote authentication systems, as they are often deployed on a large scale and need to be operational within tight deadlines. A realistic assessment of the time required for development, testing, and deployment is crucial to ensure that the system meets the required timelines.</a:t>
            </a:r>
          </a:p>
          <a:p>
            <a:pPr algn="l"/>
            <a:r>
              <a:rPr lang="en-US" sz="2000" b="0" i="0" dirty="0">
                <a:solidFill>
                  <a:srgbClr val="D4D1CB"/>
                </a:solidFill>
                <a:effectLst/>
                <a:latin typeface="Google Sans"/>
              </a:rPr>
              <a:t> </a:t>
            </a:r>
          </a:p>
        </p:txBody>
      </p:sp>
    </p:spTree>
    <p:extLst>
      <p:ext uri="{BB962C8B-B14F-4D97-AF65-F5344CB8AC3E}">
        <p14:creationId xmlns:p14="http://schemas.microsoft.com/office/powerpoint/2010/main" val="3745057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02190" y="439152"/>
            <a:ext cx="7121353" cy="517359"/>
          </a:xfrm>
          <a:prstGeom prst="rect">
            <a:avLst/>
          </a:prstGeom>
          <a:noFill/>
          <a:ln/>
        </p:spPr>
        <p:txBody>
          <a:bodyPr wrap="none" rtlCol="0" anchor="t"/>
          <a:lstStyle/>
          <a:p>
            <a:pPr algn="ctr"/>
            <a:endParaRPr lang="en-US" b="1" dirty="0">
              <a:solidFill>
                <a:schemeClr val="bg1"/>
              </a:solidFill>
            </a:endParaRPr>
          </a:p>
        </p:txBody>
      </p:sp>
      <p:sp>
        <p:nvSpPr>
          <p:cNvPr id="6" name="Text 2"/>
          <p:cNvSpPr/>
          <p:nvPr/>
        </p:nvSpPr>
        <p:spPr>
          <a:xfrm>
            <a:off x="342900" y="818147"/>
            <a:ext cx="14173200" cy="7411453"/>
          </a:xfrm>
          <a:prstGeom prst="rect">
            <a:avLst/>
          </a:prstGeom>
          <a:noFill/>
          <a:ln/>
        </p:spPr>
        <p:txBody>
          <a:bodyPr wrap="square" rtlCol="0" anchor="t"/>
          <a:lstStyle/>
          <a:p>
            <a:pPr algn="ctr"/>
            <a:endParaRPr lang="en-US" sz="2000" u="sng" dirty="0">
              <a:solidFill>
                <a:srgbClr val="D4D1CB"/>
              </a:solidFill>
              <a:latin typeface="Google Sans"/>
            </a:endParaRPr>
          </a:p>
          <a:p>
            <a:pPr algn="l"/>
            <a:r>
              <a:rPr lang="en-US" sz="2000" b="1" i="0" u="sng" dirty="0">
                <a:solidFill>
                  <a:srgbClr val="FFC000"/>
                </a:solidFill>
                <a:effectLst/>
                <a:latin typeface="Google Sans"/>
              </a:rPr>
              <a:t>Non</a:t>
            </a:r>
            <a:r>
              <a:rPr lang="en-US" sz="2000" b="1" u="sng" dirty="0">
                <a:solidFill>
                  <a:srgbClr val="FFC000"/>
                </a:solidFill>
                <a:latin typeface="Google Sans"/>
              </a:rPr>
              <a:t>-functional Requirements</a:t>
            </a:r>
          </a:p>
          <a:p>
            <a:pPr algn="l"/>
            <a:r>
              <a:rPr lang="en-US" sz="2000" b="0" i="0" dirty="0">
                <a:solidFill>
                  <a:schemeClr val="accent2"/>
                </a:solidFill>
                <a:effectLst/>
                <a:latin typeface="Google Sans"/>
              </a:rPr>
              <a:t>Non-functional requirements</a:t>
            </a:r>
            <a:r>
              <a:rPr lang="en-US" sz="2000" b="0" i="0" dirty="0">
                <a:solidFill>
                  <a:srgbClr val="D4D1CB"/>
                </a:solidFill>
                <a:effectLst/>
                <a:latin typeface="Google Sans"/>
              </a:rPr>
              <a:t>, also known as quality attributes, define how a system should perform. They describe the desired characteristics of a system, such as its performance, reliability, security, usability, and maintainability, they include:</a:t>
            </a:r>
            <a:endParaRPr lang="en-US" sz="2000" b="1" u="sng" dirty="0">
              <a:solidFill>
                <a:srgbClr val="FFC000"/>
              </a:solidFill>
              <a:latin typeface="Google Sans"/>
            </a:endParaRPr>
          </a:p>
          <a:p>
            <a:pPr algn="l">
              <a:buFont typeface="Arial" panose="020B0604020202020204" pitchFamily="34" charset="0"/>
              <a:buChar char="•"/>
            </a:pPr>
            <a:r>
              <a:rPr lang="en-US" sz="2000" b="0" i="0" dirty="0">
                <a:solidFill>
                  <a:srgbClr val="D4D1CB"/>
                </a:solidFill>
                <a:effectLst/>
                <a:latin typeface="Google Sans"/>
              </a:rPr>
              <a:t>The system should be fast, accurate, secure, and easy to use.</a:t>
            </a:r>
          </a:p>
          <a:p>
            <a:pPr algn="l">
              <a:buFont typeface="Arial" panose="020B0604020202020204" pitchFamily="34" charset="0"/>
              <a:buChar char="•"/>
            </a:pPr>
            <a:r>
              <a:rPr lang="en-US" sz="2000" b="0" i="0" dirty="0">
                <a:solidFill>
                  <a:srgbClr val="D4D1CB"/>
                </a:solidFill>
                <a:effectLst/>
                <a:latin typeface="Google Sans"/>
              </a:rPr>
              <a:t>It should be reliable and scalable to handle increasing volumes of banknote data.</a:t>
            </a:r>
          </a:p>
          <a:p>
            <a:r>
              <a:rPr lang="en-US" sz="2000" u="sng" dirty="0">
                <a:solidFill>
                  <a:srgbClr val="FFC000"/>
                </a:solidFill>
                <a:latin typeface="Google Sans"/>
              </a:rPr>
              <a:t>Functional requirements-</a:t>
            </a:r>
          </a:p>
          <a:p>
            <a:r>
              <a:rPr lang="en-US" sz="2000" b="0" i="0" dirty="0">
                <a:solidFill>
                  <a:schemeClr val="accent2"/>
                </a:solidFill>
                <a:effectLst/>
                <a:latin typeface="Google Sans"/>
              </a:rPr>
              <a:t>Functional requirements </a:t>
            </a:r>
            <a:r>
              <a:rPr lang="en-US" sz="2000" b="0" i="0" dirty="0">
                <a:solidFill>
                  <a:srgbClr val="D4D1CB"/>
                </a:solidFill>
                <a:effectLst/>
                <a:latin typeface="Google Sans"/>
              </a:rPr>
              <a:t>define what a system or its component must do. They describe the specific actions or behaviors that a system must perform to meet its intended purpose.</a:t>
            </a:r>
            <a:endParaRPr lang="en-US" sz="2000" u="sng" dirty="0">
              <a:solidFill>
                <a:srgbClr val="FFC000"/>
              </a:solidFill>
              <a:latin typeface="Google Sans"/>
            </a:endParaRPr>
          </a:p>
          <a:p>
            <a:pPr algn="l">
              <a:buFont typeface="+mj-lt"/>
              <a:buAutoNum type="arabicPeriod"/>
            </a:pPr>
            <a:r>
              <a:rPr lang="en-US" sz="2000" b="0" i="0" dirty="0">
                <a:solidFill>
                  <a:schemeClr val="accent2"/>
                </a:solidFill>
                <a:effectLst/>
                <a:latin typeface="Google Sans"/>
              </a:rPr>
              <a:t>Image Ingestion: </a:t>
            </a:r>
            <a:r>
              <a:rPr lang="en-US" sz="2000" b="0" i="0" dirty="0">
                <a:solidFill>
                  <a:srgbClr val="D4D1CB"/>
                </a:solidFill>
                <a:effectLst/>
                <a:latin typeface="Google Sans"/>
              </a:rPr>
              <a:t>The system should be able to ingest image data from various sources, such as local files, network storage, or web APIs. It should support various image formats, such as JPEG, PNG, TIFF, and BMP.</a:t>
            </a:r>
          </a:p>
          <a:p>
            <a:pPr algn="l">
              <a:buFont typeface="+mj-lt"/>
              <a:buAutoNum type="arabicPeriod"/>
            </a:pPr>
            <a:r>
              <a:rPr lang="en-US" sz="2000" b="0" i="0" dirty="0">
                <a:solidFill>
                  <a:schemeClr val="accent2"/>
                </a:solidFill>
                <a:effectLst/>
                <a:latin typeface="Google Sans"/>
              </a:rPr>
              <a:t>Image Preprocessing</a:t>
            </a:r>
            <a:r>
              <a:rPr lang="en-US" sz="2000" b="0" i="0" dirty="0">
                <a:solidFill>
                  <a:srgbClr val="D4D1CB"/>
                </a:solidFill>
                <a:effectLst/>
                <a:latin typeface="Google Sans"/>
              </a:rPr>
              <a:t>: The system should preprocess the ingested images to enhance their quality and prepare them for feature extraction. This may involve noise reduction, contrast adjustment, image normalization, and resizing to a consistent size.</a:t>
            </a:r>
          </a:p>
          <a:p>
            <a:pPr algn="l">
              <a:buFont typeface="+mj-lt"/>
              <a:buAutoNum type="arabicPeriod"/>
            </a:pPr>
            <a:r>
              <a:rPr lang="en-US" sz="2000" b="0" i="0" dirty="0">
                <a:solidFill>
                  <a:schemeClr val="accent2"/>
                </a:solidFill>
                <a:effectLst/>
                <a:latin typeface="Google Sans"/>
              </a:rPr>
              <a:t>Feature Extraction</a:t>
            </a:r>
            <a:r>
              <a:rPr lang="en-US" sz="2000" b="0" i="0" dirty="0">
                <a:solidFill>
                  <a:srgbClr val="D4D1CB"/>
                </a:solidFill>
                <a:effectLst/>
                <a:latin typeface="Google Sans"/>
              </a:rPr>
              <a:t>: The system should extract relevant features from the preprocessed images that can be used for accurate classification of banknotes. Features may include texture patterns, color distribution, security features, and edge contours.</a:t>
            </a:r>
          </a:p>
          <a:p>
            <a:pPr algn="l">
              <a:buFont typeface="+mj-lt"/>
              <a:buAutoNum type="arabicPeriod"/>
            </a:pPr>
            <a:r>
              <a:rPr lang="en-US" sz="2000" b="0" i="0" dirty="0">
                <a:solidFill>
                  <a:schemeClr val="accent2"/>
                </a:solidFill>
                <a:effectLst/>
                <a:latin typeface="Google Sans"/>
              </a:rPr>
              <a:t>Feature Selection</a:t>
            </a:r>
            <a:r>
              <a:rPr lang="en-US" sz="2000" b="0" i="0" dirty="0">
                <a:solidFill>
                  <a:srgbClr val="D4D1CB"/>
                </a:solidFill>
                <a:effectLst/>
                <a:latin typeface="Google Sans"/>
              </a:rPr>
              <a:t>: The system should select a subset of the extracted features that are most discriminative and contribute significantly to accurate classification. Feature selection techniques may include dimensionality reduction and filter methods.</a:t>
            </a:r>
          </a:p>
          <a:p>
            <a:pPr algn="l">
              <a:buFont typeface="+mj-lt"/>
              <a:buAutoNum type="arabicPeriod"/>
            </a:pPr>
            <a:r>
              <a:rPr lang="en-US" sz="2000" b="0" i="0" dirty="0">
                <a:solidFill>
                  <a:schemeClr val="accent2"/>
                </a:solidFill>
                <a:effectLst/>
                <a:latin typeface="Google Sans"/>
              </a:rPr>
              <a:t>Classification Model Training: </a:t>
            </a:r>
            <a:r>
              <a:rPr lang="en-US" sz="2000" b="0" i="0" dirty="0">
                <a:solidFill>
                  <a:srgbClr val="D4D1CB"/>
                </a:solidFill>
                <a:effectLst/>
                <a:latin typeface="Google Sans"/>
              </a:rPr>
              <a:t>The system should train a classification model using a comprehensive dataset of genuine and counterfeit banknotes represented as image data. Appropriate machine learning algorithms, such as KNN, SVM, Decision Tree, or Random Forest, should be employed for classification.</a:t>
            </a:r>
          </a:p>
          <a:p>
            <a:pPr algn="l">
              <a:buFont typeface="+mj-lt"/>
              <a:buAutoNum type="arabicPeriod"/>
            </a:pPr>
            <a:r>
              <a:rPr lang="en-US" sz="2000" b="0" i="0" dirty="0">
                <a:solidFill>
                  <a:schemeClr val="accent2"/>
                </a:solidFill>
                <a:effectLst/>
                <a:latin typeface="Google Sans"/>
              </a:rPr>
              <a:t>Banknote Classification: </a:t>
            </a:r>
            <a:r>
              <a:rPr lang="en-US" sz="2000" b="0" i="0" dirty="0">
                <a:solidFill>
                  <a:srgbClr val="D4D1CB"/>
                </a:solidFill>
                <a:effectLst/>
                <a:latin typeface="Google Sans"/>
              </a:rPr>
              <a:t>The system should classify new banknotes based on the trained classification model and extracted features. The classification output should indicate whether the new banknote is genuine or counterfeit.</a:t>
            </a:r>
          </a:p>
          <a:p>
            <a:pPr algn="l">
              <a:buFont typeface="+mj-lt"/>
              <a:buAutoNum type="arabicPeriod"/>
            </a:pPr>
            <a:r>
              <a:rPr lang="en-US" sz="2000" b="0" i="0" dirty="0">
                <a:solidFill>
                  <a:schemeClr val="accent2"/>
                </a:solidFill>
                <a:effectLst/>
                <a:latin typeface="Google Sans"/>
              </a:rPr>
              <a:t>Performance Evaluation</a:t>
            </a:r>
            <a:r>
              <a:rPr lang="en-US" sz="2000" b="0" i="0" dirty="0">
                <a:solidFill>
                  <a:srgbClr val="D4D1CB"/>
                </a:solidFill>
                <a:effectLst/>
                <a:latin typeface="Google Sans"/>
              </a:rPr>
              <a:t>: The system should continuously evaluate its performance using a held-out dataset of banknotes. Performance metrics such as accuracy, sensitivity, specificity, and precision should be monitored to ensure the system's effectiveness.</a:t>
            </a:r>
          </a:p>
          <a:p>
            <a:pPr algn="ctr"/>
            <a:endParaRPr lang="en-US" sz="2000" b="0" i="0" u="sng" dirty="0">
              <a:solidFill>
                <a:srgbClr val="D4D1CB"/>
              </a:solidFill>
              <a:effectLst/>
              <a:latin typeface="Google Sans"/>
            </a:endParaRPr>
          </a:p>
        </p:txBody>
      </p:sp>
    </p:spTree>
    <p:extLst>
      <p:ext uri="{BB962C8B-B14F-4D97-AF65-F5344CB8AC3E}">
        <p14:creationId xmlns:p14="http://schemas.microsoft.com/office/powerpoint/2010/main" val="1246738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sp>
      <p:sp>
        <p:nvSpPr>
          <p:cNvPr id="5" name="Text 1"/>
          <p:cNvSpPr/>
          <p:nvPr/>
        </p:nvSpPr>
        <p:spPr>
          <a:xfrm>
            <a:off x="502190" y="439152"/>
            <a:ext cx="7121353" cy="517359"/>
          </a:xfrm>
          <a:prstGeom prst="rect">
            <a:avLst/>
          </a:prstGeom>
          <a:noFill/>
          <a:ln/>
        </p:spPr>
        <p:txBody>
          <a:bodyPr wrap="none" rtlCol="0" anchor="t"/>
          <a:lstStyle/>
          <a:p>
            <a:pPr algn="ctr"/>
            <a:endParaRPr lang="en-US" b="1" dirty="0">
              <a:solidFill>
                <a:schemeClr val="bg1"/>
              </a:solidFill>
            </a:endParaRPr>
          </a:p>
        </p:txBody>
      </p:sp>
      <p:sp>
        <p:nvSpPr>
          <p:cNvPr id="6" name="Text 2"/>
          <p:cNvSpPr/>
          <p:nvPr/>
        </p:nvSpPr>
        <p:spPr>
          <a:xfrm>
            <a:off x="168442" y="96253"/>
            <a:ext cx="14347658" cy="8133347"/>
          </a:xfrm>
          <a:prstGeom prst="rect">
            <a:avLst/>
          </a:prstGeom>
          <a:noFill/>
          <a:ln/>
        </p:spPr>
        <p:txBody>
          <a:bodyPr wrap="square" rtlCol="0" anchor="t"/>
          <a:lstStyle/>
          <a:p>
            <a:pPr algn="ctr"/>
            <a:r>
              <a:rPr lang="en-US" sz="2000" u="sng" dirty="0">
                <a:solidFill>
                  <a:schemeClr val="accent2"/>
                </a:solidFill>
                <a:latin typeface="Google Sans"/>
              </a:rPr>
              <a:t>MODELS I HAVE USED TO AUTHENTICATE THE BANK NOTE AUTHENTICATION SYSTEM</a:t>
            </a:r>
          </a:p>
          <a:p>
            <a:pPr marL="457200" indent="-457200" algn="l">
              <a:buFont typeface="+mj-lt"/>
              <a:buAutoNum type="arabicPeriod"/>
            </a:pPr>
            <a:r>
              <a:rPr lang="en-US" sz="2000" b="0" i="0" dirty="0">
                <a:solidFill>
                  <a:schemeClr val="accent2"/>
                </a:solidFill>
                <a:effectLst/>
                <a:latin typeface="Google Sans"/>
              </a:rPr>
              <a:t>Decision Tree</a:t>
            </a:r>
            <a:r>
              <a:rPr lang="en-US" sz="2000" b="0" i="0" dirty="0">
                <a:solidFill>
                  <a:srgbClr val="D4D1CB"/>
                </a:solidFill>
                <a:effectLst/>
                <a:latin typeface="Google Sans"/>
              </a:rPr>
              <a:t>:-A decision tree is a tree-like structure that represents a set of decisions and their possible consequences, using a hierarchical approach to classify data. It recursively partitions the data based on decision rules, creating branches for each outcome until reaching a leaf node that represents the final classification. Decision trees are easy to interpret and visualize, making them useful for understanding the classification process.</a:t>
            </a:r>
          </a:p>
          <a:p>
            <a:pPr marL="457200" indent="-457200" algn="l">
              <a:buFont typeface="+mj-lt"/>
              <a:buAutoNum type="arabicPeriod"/>
            </a:pPr>
            <a:r>
              <a:rPr lang="en-US" sz="2000" b="0" i="0" dirty="0">
                <a:solidFill>
                  <a:schemeClr val="accent2"/>
                </a:solidFill>
                <a:effectLst/>
                <a:latin typeface="Google Sans"/>
              </a:rPr>
              <a:t>k-Nearest Neighbors (KNN):-</a:t>
            </a:r>
            <a:r>
              <a:rPr lang="en-US" sz="2000" b="0" i="0" dirty="0">
                <a:solidFill>
                  <a:srgbClr val="D4D1CB"/>
                </a:solidFill>
                <a:effectLst/>
                <a:latin typeface="Google Sans"/>
              </a:rPr>
              <a:t>KNN is a non-parametric algorithm that classifies data points based on the majority class of their k nearest neighbors in the training data. It assumes that similar data points are likely to belong to the same class. KNN is simple to implement and effective for various classification tasks, including banknote authentication.</a:t>
            </a:r>
          </a:p>
          <a:p>
            <a:pPr marL="457200" indent="-457200" algn="l">
              <a:buFont typeface="+mj-lt"/>
              <a:buAutoNum type="arabicPeriod"/>
            </a:pPr>
            <a:r>
              <a:rPr lang="en-US" sz="2000" b="0" i="0" dirty="0">
                <a:solidFill>
                  <a:schemeClr val="accent2"/>
                </a:solidFill>
                <a:effectLst/>
                <a:latin typeface="Google Sans"/>
              </a:rPr>
              <a:t>Random Forest</a:t>
            </a:r>
            <a:r>
              <a:rPr lang="en-US" sz="2000" b="0" i="0" dirty="0">
                <a:solidFill>
                  <a:srgbClr val="D4D1CB"/>
                </a:solidFill>
                <a:effectLst/>
                <a:latin typeface="Google Sans"/>
              </a:rPr>
              <a:t>:-Random forest is an ensemble learning method that combines multiple decision trees to improve overall classification accuracy. It builds multiple decision trees using different subsets of the training data and random subsets of features at each split. The final classification is determined by majority voting among the individual trees. Random forest is robust to outliers and overfitting, making it suitable for banknote authentication.</a:t>
            </a:r>
          </a:p>
          <a:p>
            <a:pPr marL="457200" indent="-457200" algn="l">
              <a:buFont typeface="+mj-lt"/>
              <a:buAutoNum type="arabicPeriod"/>
            </a:pPr>
            <a:r>
              <a:rPr lang="en-US" sz="2000" b="0" i="0" dirty="0">
                <a:solidFill>
                  <a:schemeClr val="accent2"/>
                </a:solidFill>
                <a:effectLst/>
                <a:latin typeface="Google Sans"/>
              </a:rPr>
              <a:t>Support Vector Machine (SVM</a:t>
            </a:r>
            <a:r>
              <a:rPr lang="en-US" sz="2000" b="0" i="0" dirty="0">
                <a:solidFill>
                  <a:srgbClr val="D4D1CB"/>
                </a:solidFill>
                <a:effectLst/>
                <a:latin typeface="Google Sans"/>
              </a:rPr>
              <a:t>):-SVM is a supervised learning algorithm that finds a hyperplane that optimally separates data points of different classes in a high-dimensional space. It aims to maximize the margin between the two classes, ensuring better generalization and classification performance. SVM is effective for both linear and nonlinear classification tasks, including banknote authentication.</a:t>
            </a:r>
          </a:p>
          <a:p>
            <a:pPr algn="ctr"/>
            <a:r>
              <a:rPr lang="en-US" sz="2000" dirty="0">
                <a:solidFill>
                  <a:schemeClr val="accent2"/>
                </a:solidFill>
                <a:latin typeface="Google Sans"/>
              </a:rPr>
              <a:t>TABULATED RESULTS</a:t>
            </a:r>
            <a:endParaRPr lang="en-US" sz="2000" b="0" i="0" dirty="0">
              <a:solidFill>
                <a:schemeClr val="accent2"/>
              </a:solidFill>
              <a:effectLst/>
              <a:latin typeface="Google Sans"/>
            </a:endParaRPr>
          </a:p>
          <a:p>
            <a:pPr algn="ctr"/>
            <a:endParaRPr lang="en-US" sz="2000" b="0" i="0" u="sng" dirty="0">
              <a:solidFill>
                <a:srgbClr val="D4D1CB"/>
              </a:solidFill>
              <a:effectLst/>
              <a:latin typeface="Google Sans"/>
            </a:endParaRPr>
          </a:p>
        </p:txBody>
      </p:sp>
      <p:graphicFrame>
        <p:nvGraphicFramePr>
          <p:cNvPr id="4" name="Table 3">
            <a:extLst>
              <a:ext uri="{FF2B5EF4-FFF2-40B4-BE49-F238E27FC236}">
                <a16:creationId xmlns:a16="http://schemas.microsoft.com/office/drawing/2014/main" id="{71E5A6F3-387B-5AF9-5DDA-E00AA71A2E1A}"/>
              </a:ext>
            </a:extLst>
          </p:cNvPr>
          <p:cNvGraphicFramePr>
            <a:graphicFrameLocks noGrp="1"/>
          </p:cNvGraphicFramePr>
          <p:nvPr>
            <p:extLst>
              <p:ext uri="{D42A27DB-BD31-4B8C-83A1-F6EECF244321}">
                <p14:modId xmlns:p14="http://schemas.microsoft.com/office/powerpoint/2010/main" val="427732420"/>
              </p:ext>
            </p:extLst>
          </p:nvPr>
        </p:nvGraphicFramePr>
        <p:xfrm>
          <a:off x="3260558" y="5456321"/>
          <a:ext cx="8524374" cy="2610852"/>
        </p:xfrm>
        <a:graphic>
          <a:graphicData uri="http://schemas.openxmlformats.org/drawingml/2006/table">
            <a:tbl>
              <a:tblPr firstRow="1" firstCol="1" bandRow="1">
                <a:tableStyleId>{5C22544A-7EE6-4342-B048-85BDC9FD1C3A}</a:tableStyleId>
              </a:tblPr>
              <a:tblGrid>
                <a:gridCol w="2841458">
                  <a:extLst>
                    <a:ext uri="{9D8B030D-6E8A-4147-A177-3AD203B41FA5}">
                      <a16:colId xmlns:a16="http://schemas.microsoft.com/office/drawing/2014/main" val="3987422608"/>
                    </a:ext>
                  </a:extLst>
                </a:gridCol>
                <a:gridCol w="2841458">
                  <a:extLst>
                    <a:ext uri="{9D8B030D-6E8A-4147-A177-3AD203B41FA5}">
                      <a16:colId xmlns:a16="http://schemas.microsoft.com/office/drawing/2014/main" val="871656896"/>
                    </a:ext>
                  </a:extLst>
                </a:gridCol>
                <a:gridCol w="2841458">
                  <a:extLst>
                    <a:ext uri="{9D8B030D-6E8A-4147-A177-3AD203B41FA5}">
                      <a16:colId xmlns:a16="http://schemas.microsoft.com/office/drawing/2014/main" val="2173225303"/>
                    </a:ext>
                  </a:extLst>
                </a:gridCol>
              </a:tblGrid>
              <a:tr h="435142">
                <a:tc>
                  <a:txBody>
                    <a:bodyPr/>
                    <a:lstStyle/>
                    <a:p>
                      <a:pPr marL="0" marR="546735" indent="0" algn="ctr">
                        <a:lnSpc>
                          <a:spcPct val="150000"/>
                        </a:lnSpc>
                        <a:spcBef>
                          <a:spcPts val="0"/>
                        </a:spcBef>
                        <a:spcAft>
                          <a:spcPts val="790"/>
                        </a:spcAft>
                      </a:pPr>
                      <a:r>
                        <a:rPr lang="en-US" sz="1200" kern="100">
                          <a:effectLst/>
                        </a:rPr>
                        <a:t>Sr. No.</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gn="ctr">
                        <a:lnSpc>
                          <a:spcPct val="150000"/>
                        </a:lnSpc>
                        <a:spcBef>
                          <a:spcPts val="0"/>
                        </a:spcBef>
                        <a:spcAft>
                          <a:spcPts val="790"/>
                        </a:spcAft>
                      </a:pPr>
                      <a:r>
                        <a:rPr lang="en-US" sz="1200" kern="100">
                          <a:effectLst/>
                        </a:rPr>
                        <a:t>Algorithm</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gn="ctr">
                        <a:lnSpc>
                          <a:spcPct val="150000"/>
                        </a:lnSpc>
                        <a:spcBef>
                          <a:spcPts val="0"/>
                        </a:spcBef>
                        <a:spcAft>
                          <a:spcPts val="790"/>
                        </a:spcAft>
                      </a:pPr>
                      <a:r>
                        <a:rPr lang="en-US" sz="1200" kern="100">
                          <a:effectLst/>
                        </a:rPr>
                        <a:t>Accuracy</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0044475"/>
                  </a:ext>
                </a:extLst>
              </a:tr>
              <a:tr h="435142">
                <a:tc>
                  <a:txBody>
                    <a:bodyPr/>
                    <a:lstStyle/>
                    <a:p>
                      <a:pPr marL="0" marR="546735" indent="0">
                        <a:lnSpc>
                          <a:spcPct val="150000"/>
                        </a:lnSpc>
                        <a:spcBef>
                          <a:spcPts val="0"/>
                        </a:spcBef>
                        <a:spcAft>
                          <a:spcPts val="790"/>
                        </a:spcAft>
                      </a:pPr>
                      <a:r>
                        <a:rPr lang="en-US" sz="1200" kern="100">
                          <a:effectLst/>
                        </a:rPr>
                        <a:t>1 </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Decision Tree             </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99.27%</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59209652"/>
                  </a:ext>
                </a:extLst>
              </a:tr>
              <a:tr h="435142">
                <a:tc>
                  <a:txBody>
                    <a:bodyPr/>
                    <a:lstStyle/>
                    <a:p>
                      <a:pPr marL="0" marR="546735" indent="0">
                        <a:lnSpc>
                          <a:spcPct val="150000"/>
                        </a:lnSpc>
                        <a:spcBef>
                          <a:spcPts val="0"/>
                        </a:spcBef>
                        <a:spcAft>
                          <a:spcPts val="790"/>
                        </a:spcAft>
                      </a:pPr>
                      <a:r>
                        <a:rPr lang="en-US" sz="1200" kern="100">
                          <a:effectLst/>
                        </a:rPr>
                        <a:t>2</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KNN (k = 3)</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96.0%</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03743368"/>
                  </a:ext>
                </a:extLst>
              </a:tr>
              <a:tr h="435142">
                <a:tc>
                  <a:txBody>
                    <a:bodyPr/>
                    <a:lstStyle/>
                    <a:p>
                      <a:pPr marL="0" marR="546735" indent="0">
                        <a:lnSpc>
                          <a:spcPct val="150000"/>
                        </a:lnSpc>
                        <a:spcBef>
                          <a:spcPts val="0"/>
                        </a:spcBef>
                        <a:spcAft>
                          <a:spcPts val="790"/>
                        </a:spcAft>
                      </a:pPr>
                      <a:r>
                        <a:rPr lang="en-US" sz="1200" kern="100">
                          <a:effectLst/>
                        </a:rPr>
                        <a:t>3</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KNN (k = 5)</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95.64%</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08155293"/>
                  </a:ext>
                </a:extLst>
              </a:tr>
              <a:tr h="435142">
                <a:tc>
                  <a:txBody>
                    <a:bodyPr/>
                    <a:lstStyle/>
                    <a:p>
                      <a:pPr marL="0" marR="546735" indent="0">
                        <a:lnSpc>
                          <a:spcPct val="150000"/>
                        </a:lnSpc>
                        <a:spcBef>
                          <a:spcPts val="0"/>
                        </a:spcBef>
                        <a:spcAft>
                          <a:spcPts val="790"/>
                        </a:spcAft>
                      </a:pPr>
                      <a:r>
                        <a:rPr lang="en-US" sz="1200" kern="100">
                          <a:effectLst/>
                        </a:rPr>
                        <a:t>4</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Random forest </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98.55%</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70656960"/>
                  </a:ext>
                </a:extLst>
              </a:tr>
              <a:tr h="435142">
                <a:tc>
                  <a:txBody>
                    <a:bodyPr/>
                    <a:lstStyle/>
                    <a:p>
                      <a:pPr marL="0" marR="546735" indent="0">
                        <a:lnSpc>
                          <a:spcPct val="150000"/>
                        </a:lnSpc>
                        <a:spcBef>
                          <a:spcPts val="0"/>
                        </a:spcBef>
                        <a:spcAft>
                          <a:spcPts val="790"/>
                        </a:spcAft>
                      </a:pPr>
                      <a:r>
                        <a:rPr lang="en-US" sz="1200" kern="100">
                          <a:effectLst/>
                        </a:rPr>
                        <a:t>5</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a:effectLst/>
                        </a:rPr>
                        <a:t>Support Vector Machine    </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546735" indent="0">
                        <a:lnSpc>
                          <a:spcPct val="150000"/>
                        </a:lnSpc>
                        <a:spcBef>
                          <a:spcPts val="0"/>
                        </a:spcBef>
                        <a:spcAft>
                          <a:spcPts val="790"/>
                        </a:spcAft>
                      </a:pPr>
                      <a:r>
                        <a:rPr lang="en-US" sz="1200" kern="100" dirty="0">
                          <a:effectLst/>
                        </a:rPr>
                        <a:t>41.82%</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19406450"/>
                  </a:ext>
                </a:extLst>
              </a:tr>
            </a:tbl>
          </a:graphicData>
        </a:graphic>
      </p:graphicFrame>
    </p:spTree>
    <p:extLst>
      <p:ext uri="{BB962C8B-B14F-4D97-AF65-F5344CB8AC3E}">
        <p14:creationId xmlns:p14="http://schemas.microsoft.com/office/powerpoint/2010/main" val="3957624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4044</Words>
  <Application>Microsoft Office PowerPoint</Application>
  <PresentationFormat>Custom</PresentationFormat>
  <Paragraphs>212</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Google Sans</vt:lpstr>
      <vt:lpstr>Heebo</vt:lpstr>
      <vt:lpstr>Montserrat</vt:lpstr>
      <vt:lpstr>Sitka Display Semibold</vt:lpstr>
      <vt:lpstr>Söhne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yunis hassan</cp:lastModifiedBy>
  <cp:revision>4</cp:revision>
  <dcterms:created xsi:type="dcterms:W3CDTF">2023-11-29T19:35:26Z</dcterms:created>
  <dcterms:modified xsi:type="dcterms:W3CDTF">2023-11-30T08:26:13Z</dcterms:modified>
</cp:coreProperties>
</file>